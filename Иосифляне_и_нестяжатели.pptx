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 доклада — спор иосифлян и нестяжателей, одна из главных идейных дискуссий Московской Руси конца XV — первой половины XVI века.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Спор возник на фоне складывания единого государства. Церковь была крупнейшим землевладельцем, а великий князь нуждался в землях для служилого сословия. Одновременно Церковь боролась с ересью жидовствующих. Вопросы о землях и о еретиках и разделили духовенство на два течения.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Нил Сорский — главный идейный вдохновитель нестяжателей. Он не стремился к власти и влиянию, жил в небольшом скиту в лесах Заволжья. Его сторонников называли заволжскими старцами.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Нестяжатели считали, что богатство губит монашество. Их идеал — небольшой скит, нищета и молитва. К еретикам они призывали относиться мягко. Самым ярким публицистом течения стал Вассиан Патрикеев, а позднее — Максим Грек.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Иосиф Волоцкий — выдающийся церковный деятель, организатор и публицист. Его монастырь стал кузницей кадров для высшей церковной иерархии: оттуда вышли многие епископы и митрополиты.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Иосифляне защищали право Церкви владеть землёй: по их мнению, только богатая Церковь может заниматься просвещением и благотворительностью. Они поддерживали сильную власть государя и требовали казни еретиков. Иосифляне поэтому получили поддержку великого князя.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Таблица показывает главное различие: нестяжатели видели Церковь бедной и духовной, иосифляне — богатой, влиятельной и тесно связанной с государством.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Соборе 1503 года Иван III поначалу поддерживал нестяжателей, надеясь получить церковные земли, но собор отказался отдавать имущество. В 1504 году по настоянию иосифлян еретики были казнены. Позднее, при Василии III, были осуждены видные нестяжатели — Максим Грек и Вассиан Патрикеев. Стоглавый собор 1551 года окончательно закрепил позиции иосифлян.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Победа иосифлян укрепила союз Церкви и государства и подготовила идеологию самодержавия XVI века. Однако нестяжательская традиция не исчезла: её духовные идеалы продолжили жить в русском монашестве.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России · Иосифляне и нестяжатели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E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3B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E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it/a3a74f1c-c972-5af6-94a0-a02ac4d8ebfd/scratchpad/prep/kirill.jp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234440"/>
            <a:ext cx="3566160" cy="35661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B8862F"/>
            </a:solidFill>
            <a:prstDash val="solid"/>
          </a:ln>
        </p:spPr>
      </p:sp>
      <p:pic>
        <p:nvPicPr>
          <p:cNvPr id="4" name="Image 1" descr="/tmp/claude-0/-home-user-sait/a3a74f1c-c972-5af6-94a0-a02ac4d8ebfd/scratchpad/prep/logo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609344"/>
            <a:ext cx="2834640" cy="2760693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937760" y="73152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D3A0"/>
                </a:solidFill>
              </a:rPr>
              <a:t>Всероссийский государственный университет юстиции (РПА Минюста России)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937760" y="155448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Иосифляне и нестяжатели</a:t>
            </a:r>
            <a:endParaRPr lang="en-US" sz="5000" dirty="0"/>
          </a:p>
        </p:txBody>
      </p:sp>
      <p:sp>
        <p:nvSpPr>
          <p:cNvPr id="7" name="Text 3"/>
          <p:cNvSpPr txBox="1"/>
          <p:nvPr/>
        </p:nvSpPr>
        <p:spPr>
          <a:xfrm>
            <a:off x="4937760" y="320040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9D3A0"/>
                </a:solidFill>
              </a:rPr>
              <a:t>Спор о богатстве Церкви, монашеском идеале и отношениях Церкви с государством в конце XV — середине XVI века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4937760" y="457200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Дисциплина: «История России»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Выполнил(а): студент(ка) ____ группы, ФИО ________________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Преподаватель: ________________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4937760" y="60350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3A0"/>
                </a:solidFill>
              </a:rPr>
              <a:t>Москва,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Историческая обстановка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862F"/>
                </a:solidFill>
              </a:rPr>
              <a:t>Конец XV — начало XVI века: рождение единого Русского государства</a:t>
            </a:r>
            <a:endParaRPr lang="en-US" sz="1600" dirty="0"/>
          </a:p>
        </p:txBody>
      </p:sp>
      <p:pic>
        <p:nvPicPr>
          <p:cNvPr id="4" name="Image 0" descr="/tmp/claude-0/-home-user-sait/a3a74f1c-c972-5af6-94a0-a02ac4d8ebfd/scratchpad/prep/iv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291840" cy="41148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548640" y="57698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5E57"/>
                </a:solidFill>
              </a:rPr>
              <a:t>Иван III Васильевич (правил 1462–1505). Царский титулярник, 1672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343400" y="1645920"/>
            <a:ext cx="4434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7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Объединение земель.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A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Иване III Москва подчинила Новгород (1478) и Тверь (1485), в 1480 г. окончилась ордынская зависимость.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7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Монастырские богатства.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A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Монастыри владели огромными сёлами с крестьянами — по оценкам историков, до трети обрабатываемых земель.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7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Нужда государства в земле.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A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Великому князю требовались земли для раздачи служилым людям (поместья), поэтому его интересовали церковные владения.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7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Ересь «жидовствующих».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A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Новгороде и Москве распространилось вольнодумное движение, отрицавшее часть церковных догматов и иерархию.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098280" y="164592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098280" y="17373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1462–1505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918972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E57"/>
                </a:solidFill>
              </a:rPr>
              <a:t>правление Ивана III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098280" y="306324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098280" y="31546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1/3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9189720" y="3749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E57"/>
                </a:solidFill>
              </a:rPr>
              <a:t>земель — у Церкви и монастырей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098280" y="448056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098280" y="4572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1503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9189720" y="5166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E57"/>
                </a:solidFill>
              </a:rPr>
              <a:t>собор, где столкнулись две партии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E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Нил Сорский — вождь нестяжателей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862F"/>
                </a:solidFill>
              </a:rPr>
              <a:t>Преподобный Нил (ок. 1433 — 1508), «заволжский старец»</a:t>
            </a:r>
            <a:endParaRPr lang="en-US" sz="1600" dirty="0"/>
          </a:p>
        </p:txBody>
      </p:sp>
      <p:pic>
        <p:nvPicPr>
          <p:cNvPr id="4" name="Image 0" descr="/tmp/claude-0/-home-user-sait/a3a74f1c-c972-5af6-94a0-a02ac4d8ebfd/scratchpad/prep/ni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108960" cy="414223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548640" y="57972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5E57"/>
                </a:solidFill>
              </a:rPr>
              <a:t>Икона преподобного Нила Сорского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069080" y="1691640"/>
            <a:ext cx="457200" cy="457200"/>
          </a:xfrm>
          <a:prstGeom prst="ellipse">
            <a:avLst/>
          </a:prstGeom>
          <a:solidFill>
            <a:srgbClr val="2E5E3E"/>
          </a:solidFill>
          <a:ln w="12700">
            <a:solidFill>
              <a:srgbClr val="2E5E3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069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645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Происхождение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709160" y="20116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2220"/>
                </a:solidFill>
              </a:rPr>
              <a:t>Происходил, по-видимому, из московской семьи Майковых; принял постриг в Кирилло-Белозерском монастыре.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069080" y="2770632"/>
            <a:ext cx="457200" cy="457200"/>
          </a:xfrm>
          <a:prstGeom prst="ellipse">
            <a:avLst/>
          </a:prstGeom>
          <a:solidFill>
            <a:srgbClr val="2E5E3E"/>
          </a:solidFill>
          <a:ln w="12700">
            <a:solidFill>
              <a:srgbClr val="2E5E3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069080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709160" y="272491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Путешествие на Афон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709160" y="309067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2220"/>
                </a:solidFill>
              </a:rPr>
              <a:t>Несколько лет жил на Афоне и в Константинополе, изучал практику «умной молитвы» — исихазм.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069080" y="3849624"/>
            <a:ext cx="457200" cy="457200"/>
          </a:xfrm>
          <a:prstGeom prst="ellipse">
            <a:avLst/>
          </a:prstGeom>
          <a:solidFill>
            <a:srgbClr val="2E5E3E"/>
          </a:solidFill>
          <a:ln w="12700">
            <a:solidFill>
              <a:srgbClr val="2E5E3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06908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709160" y="380390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Сорский скит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709160" y="4169664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2220"/>
                </a:solidFill>
              </a:rPr>
              <a:t>Основал скит на реке Соре (под Белоозером): несколько келий, жизнь трудом своих рук, без сёл и крестьян.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069080" y="4928616"/>
            <a:ext cx="457200" cy="457200"/>
          </a:xfrm>
          <a:prstGeom prst="ellipse">
            <a:avLst/>
          </a:prstGeom>
          <a:solidFill>
            <a:srgbClr val="2E5E3E"/>
          </a:solidFill>
          <a:ln w="12700">
            <a:solidFill>
              <a:srgbClr val="2E5E3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069080" y="4928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709160" y="48828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Сочинения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09160" y="5248656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2220"/>
                </a:solidFill>
              </a:rPr>
              <a:t>«Устав о скитской жизни» и «Предание ученикам» — о молитве, смирении и борьбе со страстями.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E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Учение нестяжателей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862F"/>
                </a:solidFill>
              </a:rPr>
              <a:t>«Не стяжать» — не приобретать имущества</a:t>
            </a:r>
            <a:endParaRPr lang="en-US" sz="1600" dirty="0"/>
          </a:p>
        </p:txBody>
      </p:sp>
      <p:pic>
        <p:nvPicPr>
          <p:cNvPr id="4" name="Image 0" descr="/tmp/claude-0/-home-user-sait/a3a74f1c-c972-5af6-94a0-a02ac4d8ebfd/scratchpad/prep/nilpu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00200"/>
            <a:ext cx="4736592" cy="266090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6903720" y="429768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5E57"/>
                </a:solidFill>
              </a:rPr>
              <a:t>Нило-Сорская пустынь. Гравюра XIX века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2971800" cy="1645920"/>
          </a:xfrm>
          <a:prstGeom prst="roundRect">
            <a:avLst>
              <a:gd name="adj" fmla="val 5556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7099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 сёл и крестьян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10312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A2220"/>
                </a:solidFill>
              </a:rPr>
              <a:t>Монастыри не должны владеть землями и людьми: монах живёт трудом своих рук.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703320" y="1600200"/>
            <a:ext cx="2971800" cy="1645920"/>
          </a:xfrm>
          <a:prstGeom prst="roundRect">
            <a:avLst>
              <a:gd name="adj" fmla="val 5556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886200" y="17099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Внутреннее делание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886200" y="210312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A2220"/>
                </a:solidFill>
              </a:rPr>
              <a:t>Главное — молитва и духовное совершенствование, а не богатые храмы и обряды.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48640" y="3429000"/>
            <a:ext cx="2971800" cy="1645920"/>
          </a:xfrm>
          <a:prstGeom prst="roundRect">
            <a:avLst>
              <a:gd name="adj" fmla="val 5556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5387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Милость к еретикам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93192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A2220"/>
                </a:solidFill>
              </a:rPr>
              <a:t>Заблудших следует вразумлять и ждать покаяния, а не казнить.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3703320" y="3429000"/>
            <a:ext cx="2971800" cy="1645920"/>
          </a:xfrm>
          <a:prstGeom prst="roundRect">
            <a:avLst>
              <a:gd name="adj" fmla="val 5556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886200" y="35387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Свобода Церкви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886200" y="393192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A2220"/>
                </a:solidFill>
              </a:rPr>
              <a:t>Духовенство не должно вмешиваться в мирские дела и угождать светской власти.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349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5E3E"/>
                </a:solidFill>
              </a:rPr>
              <a:t>Сторонники: </a:t>
            </a:r>
            <a:pPr indent="0" marL="0">
              <a:buNone/>
            </a:pPr>
            <a:r>
              <a:rPr lang="en-US" sz="1600" dirty="0">
                <a:solidFill>
                  <a:srgbClr val="2A2220"/>
                </a:solidFill>
              </a:rPr>
              <a:t>Паисий Ярославов, князь-инок Вассиан Патрикеев, Максим Грек, «заволжские старцы» северных монастырей.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E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Иосиф Волоцкий — вождь иосифлян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862F"/>
                </a:solidFill>
              </a:rPr>
              <a:t>Преподобный Иосиф (Иван Санин, 1439/1440 — 1515)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7A2620"/>
          </a:solidFill>
          <a:ln w="12700">
            <a:solidFill>
              <a:srgbClr val="7A2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459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Ученик Пафнутия Боровского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01168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2220"/>
                </a:solidFill>
              </a:rPr>
              <a:t>Постригся в Пафнутьево-Боровском монастыре и после смерти Пафнутия стал его игуменом.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7A2620"/>
          </a:solidFill>
          <a:ln w="12700">
            <a:solidFill>
              <a:srgbClr val="7A262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72491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Основатель монастыря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09067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2220"/>
                </a:solidFill>
              </a:rPr>
              <a:t>В 1479 г. основал Иосифо-Волоколамский монастырь — один из богатейших и влиятельнейших на Руси.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849624"/>
            <a:ext cx="457200" cy="457200"/>
          </a:xfrm>
          <a:prstGeom prst="ellipse">
            <a:avLst/>
          </a:prstGeom>
          <a:solidFill>
            <a:srgbClr val="7A2620"/>
          </a:solidFill>
          <a:ln w="12700">
            <a:solidFill>
              <a:srgbClr val="7A262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80390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Строгий общежительный устав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169664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2220"/>
                </a:solidFill>
              </a:rPr>
              <a:t>Всё имущество общее, жёсткая дисциплина, одинаковая одежда и пища для всех иноков.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928616"/>
            <a:ext cx="457200" cy="457200"/>
          </a:xfrm>
          <a:prstGeom prst="ellipse">
            <a:avLst/>
          </a:prstGeom>
          <a:solidFill>
            <a:srgbClr val="7A2620"/>
          </a:solidFill>
          <a:ln w="12700">
            <a:solidFill>
              <a:srgbClr val="7A26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928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88289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«Просветитель»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248656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2220"/>
                </a:solidFill>
              </a:rPr>
              <a:t>Главный труд — книга против ереси «жидовствующих», обосновывающая суровое наказание еретиков.</a:t>
            </a:r>
            <a:endParaRPr lang="en-US" sz="1500" dirty="0"/>
          </a:p>
        </p:txBody>
      </p:sp>
      <p:pic>
        <p:nvPicPr>
          <p:cNvPr id="20" name="Image 0" descr="/tmp/claude-0/-home-user-sait/a3a74f1c-c972-5af6-94a0-a02ac4d8ebfd/scratchpad/prep/iosi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600200"/>
            <a:ext cx="2551176" cy="41148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21" name="Text 18"/>
          <p:cNvSpPr txBox="1"/>
          <p:nvPr/>
        </p:nvSpPr>
        <p:spPr>
          <a:xfrm>
            <a:off x="8366760" y="576986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5E57"/>
                </a:solidFill>
              </a:rPr>
              <a:t>Икона преподобного Иосифа Волоцкого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E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Учение иосифлян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862F"/>
                </a:solidFill>
              </a:rPr>
              <a:t>Сильная и богатая Церковь в союзе с государем</a:t>
            </a:r>
            <a:endParaRPr lang="en-US" sz="1600" dirty="0"/>
          </a:p>
        </p:txBody>
      </p:sp>
      <p:pic>
        <p:nvPicPr>
          <p:cNvPr id="4" name="Image 0" descr="/tmp/claude-0/-home-user-sait/a3a74f1c-c972-5af6-94a0-a02ac4d8ebfd/scratchpad/prep/iosm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456432" cy="41148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548640" y="5769864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5E57"/>
                </a:solidFill>
              </a:rPr>
              <a:t>Иосифо-Волоцкий монастырь (Волоколамский р-н)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343400" y="1600200"/>
            <a:ext cx="7296912" cy="914400"/>
          </a:xfrm>
          <a:prstGeom prst="roundRect">
            <a:avLst>
              <a:gd name="adj" fmla="val 10000"/>
            </a:avLst>
          </a:prstGeom>
          <a:solidFill>
            <a:srgbClr val="F6ECE9"/>
          </a:solidFill>
          <a:ln w="12700">
            <a:solidFill>
              <a:srgbClr val="F6ECE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26280" y="167335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Церковное имущество — благо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26280" y="1993392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220"/>
                </a:solidFill>
              </a:rPr>
              <a:t>Богатство идёт на храмы, книги, помощь голодающим и нищим; в богатых обителях воспитываются достойные архиереи.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43400" y="2651760"/>
            <a:ext cx="7296912" cy="914400"/>
          </a:xfrm>
          <a:prstGeom prst="roundRect">
            <a:avLst>
              <a:gd name="adj" fmla="val 10000"/>
            </a:avLst>
          </a:prstGeom>
          <a:solidFill>
            <a:srgbClr val="F6ECE9"/>
          </a:solidFill>
          <a:ln w="12700">
            <a:solidFill>
              <a:srgbClr val="F6ECE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6280" y="272491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Казнь еретиков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3044952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220"/>
                </a:solidFill>
              </a:rPr>
              <a:t>Еретик опасен для души народа, поэтому его должна карать светская власть — вплоть до смертной казни.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343400" y="3703320"/>
            <a:ext cx="7296912" cy="914400"/>
          </a:xfrm>
          <a:prstGeom prst="roundRect">
            <a:avLst>
              <a:gd name="adj" fmla="val 10000"/>
            </a:avLst>
          </a:prstGeom>
          <a:solidFill>
            <a:srgbClr val="F6ECE9"/>
          </a:solidFill>
          <a:ln w="12700">
            <a:solidFill>
              <a:srgbClr val="F6ECE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26280" y="377647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Божественная власть государя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4096512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2A2220"/>
                </a:solidFill>
              </a:rPr>
              <a:t>«Царь естеством подобен всем человекам, властью же подобен Вышнему Богу» — Иосиф Волоцкий.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343400" y="4754880"/>
            <a:ext cx="7296912" cy="914400"/>
          </a:xfrm>
          <a:prstGeom prst="roundRect">
            <a:avLst>
              <a:gd name="adj" fmla="val 10000"/>
            </a:avLst>
          </a:prstGeom>
          <a:solidFill>
            <a:srgbClr val="F6ECE9"/>
          </a:solidFill>
          <a:ln w="12700">
            <a:solidFill>
              <a:srgbClr val="F6ECE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26280" y="48280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Обрядовое благочестие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526280" y="5148072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220"/>
                </a:solidFill>
              </a:rPr>
              <a:t>Строгое соблюдение устава, обрядов, внешняя красота богослужения.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E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Сравнение двух течений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862F"/>
                </a:solidFill>
              </a:rPr>
              <a:t>Ключевые вопросы спора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74236"/>
                <a:gridCol w="4176979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Вопрос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Нестяжатели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Иосифляне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62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Лидер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A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Нил Сорский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A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Иосиф Волоцкий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Монастырские земли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A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Отказаться от сёл и крестьян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A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Сохранить: богатство служит Церкви и людям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Идеал монашества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A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Скит, бедность, «умная» молитва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A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Большой общежительный монастырь, строгий устав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Отношение к еретикам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A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Убеждать, принимать покаяние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A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Сурово наказывать, вплоть до казни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Церковь и власть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A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Церковь независима от мирских дел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A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Союз Церкви и сильного государя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Опора в обществе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A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Северные «заволжские» скиты, часть знати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A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Высшее духовенство, великий князь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E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Ход борьбы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862F"/>
                </a:solidFill>
              </a:rPr>
              <a:t>От Собора 1503 года до Стоглавого собора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508760" y="3246120"/>
            <a:ext cx="9174175" cy="0"/>
          </a:xfrm>
          <a:prstGeom prst="line">
            <a:avLst/>
          </a:prstGeom>
          <a:noFill/>
          <a:ln w="38100">
            <a:solidFill>
              <a:srgbClr val="B886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53312" y="3090672"/>
            <a:ext cx="310896" cy="310896"/>
          </a:xfrm>
          <a:prstGeom prst="ellipse">
            <a:avLst/>
          </a:prstGeom>
          <a:solidFill>
            <a:srgbClr val="7A26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1490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402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2220"/>
                </a:solidFill>
              </a:rPr>
              <a:t>Собор осуждает ересь «жидовствующих»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88147" y="3090672"/>
            <a:ext cx="310896" cy="310896"/>
          </a:xfrm>
          <a:prstGeom prst="ellipse">
            <a:avLst/>
          </a:prstGeom>
          <a:solidFill>
            <a:srgbClr val="3B141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83475" y="3566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1503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383475" y="40233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2220"/>
                </a:solidFill>
              </a:rPr>
              <a:t>Собор: Нил Сорский предлагает лишить монастыри сёл — побеждают иосифляне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2982" y="3090672"/>
            <a:ext cx="310896" cy="310896"/>
          </a:xfrm>
          <a:prstGeom prst="ellipse">
            <a:avLst/>
          </a:prstGeom>
          <a:solidFill>
            <a:srgbClr val="7A26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18310" y="1783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218310" y="22402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2220"/>
                </a:solidFill>
              </a:rPr>
              <a:t>Новый собор: казни еретиков по настоянию Иосифа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7817" y="3090672"/>
            <a:ext cx="310896" cy="310896"/>
          </a:xfrm>
          <a:prstGeom prst="ellipse">
            <a:avLst/>
          </a:prstGeom>
          <a:solidFill>
            <a:srgbClr val="6B5E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53145" y="3566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5E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1508 / 1515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053145" y="40233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2220"/>
                </a:solidFill>
              </a:rPr>
              <a:t>Кончина Нила Сорского и Иосифа Волоцкого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92652" y="3090672"/>
            <a:ext cx="310896" cy="310896"/>
          </a:xfrm>
          <a:prstGeom prst="ellipse">
            <a:avLst/>
          </a:prstGeom>
          <a:solidFill>
            <a:srgbClr val="2E5E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87980" y="1783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5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1525–1531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887980" y="22402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2220"/>
                </a:solidFill>
              </a:rPr>
              <a:t>Осуждение Максима Грека и Вассиана Патрикеева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527487" y="3090672"/>
            <a:ext cx="310896" cy="310896"/>
          </a:xfrm>
          <a:prstGeom prst="ellipse">
            <a:avLst/>
          </a:prstGeom>
          <a:solidFill>
            <a:srgbClr val="3B141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22815" y="3566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1551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722815" y="40233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2220"/>
                </a:solidFill>
              </a:rPr>
              <a:t>Стоглавый собор закрепляет церковное землевладение</a:t>
            </a:r>
            <a:endParaRPr lang="en-US" sz="1300" dirty="0"/>
          </a:p>
        </p:txBody>
      </p:sp>
      <p:pic>
        <p:nvPicPr>
          <p:cNvPr id="23" name="Image 0" descr="/tmp/claude-0/-home-user-sait/a3a74f1c-c972-5af6-94a0-a02ac4d8ebfd/scratchpad/prep/kirill19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983480"/>
            <a:ext cx="1371600" cy="11430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24" name="Text 21"/>
          <p:cNvSpPr txBox="1"/>
          <p:nvPr/>
        </p:nvSpPr>
        <p:spPr>
          <a:xfrm>
            <a:off x="2148840" y="4983480"/>
            <a:ext cx="94942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2620"/>
                </a:solidFill>
              </a:rPr>
              <a:t>Итог борьбы: </a:t>
            </a:r>
            <a:pPr indent="0" marL="0">
              <a:buNone/>
            </a:pPr>
            <a:r>
              <a:rPr lang="en-US" sz="1400" dirty="0">
                <a:solidFill>
                  <a:srgbClr val="2A2220"/>
                </a:solidFill>
              </a:rPr>
              <a:t>к середине XVI века иосифляне заняли почти все высшие церковные посты, а нестяжательство было осуждено. На фото — Кирилло-Белозерский монастырь, оплот «заволжских старцев» (фото С. М. Прокудина-Горского, 1909).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E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 и историческое значение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862F"/>
                </a:solidFill>
              </a:rPr>
              <a:t>Почему победили иосифляне и что это дало России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7A2620"/>
          </a:solidFill>
          <a:ln w="12700">
            <a:solidFill>
              <a:srgbClr val="7A2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002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Победа иосифлян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3774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220"/>
                </a:solidFill>
              </a:rPr>
              <a:t>Их идеи совпали с интересами великокняжеской власти: Церковь сохранила земли, но стала опорой государя.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06240" y="1600200"/>
            <a:ext cx="502920" cy="502920"/>
          </a:xfrm>
          <a:prstGeom prst="ellipse">
            <a:avLst/>
          </a:prstGeom>
          <a:solidFill>
            <a:srgbClr val="7A2620"/>
          </a:solidFill>
          <a:ln w="12700">
            <a:solidFill>
              <a:srgbClr val="7A262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06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002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Союз Церкви и государства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3774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220"/>
                </a:solidFill>
              </a:rPr>
              <a:t>Сложилась модель тесного взаимодействия: Церковь освящала власть, власть защищала Церковь.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rgbClr val="7A2620"/>
          </a:solidFill>
          <a:ln w="12700">
            <a:solidFill>
              <a:srgbClr val="7A262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49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Идеология самодержавия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5262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220"/>
                </a:solidFill>
              </a:rPr>
              <a:t>В этой среде укрепляется учение о божественном характере власти государя и идея «Москва — Третий Рим».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06240" y="3749040"/>
            <a:ext cx="502920" cy="502920"/>
          </a:xfrm>
          <a:prstGeom prst="ellipse">
            <a:avLst/>
          </a:prstGeom>
          <a:solidFill>
            <a:srgbClr val="2E5E3E"/>
          </a:solidFill>
          <a:ln w="12700">
            <a:solidFill>
              <a:srgbClr val="2E5E3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062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749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5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Наследие нестяжателей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45262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220"/>
                </a:solidFill>
              </a:rPr>
              <a:t>Их духовная традиция — молитва, старчество, нравственная свобода — жила в северных монастырях и позже в Оптиной пустыни.</a:t>
            </a:r>
            <a:endParaRPr lang="en-US" sz="1400" dirty="0"/>
          </a:p>
        </p:txBody>
      </p:sp>
      <p:pic>
        <p:nvPicPr>
          <p:cNvPr id="20" name="Image 0" descr="/tmp/claude-0/-home-user-sait/a3a74f1c-c972-5af6-94a0-a02ac4d8ebfd/scratchpad/prep/iosifga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1600200"/>
            <a:ext cx="3547872" cy="41148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21" name="Text 18"/>
          <p:cNvSpPr txBox="1"/>
          <p:nvPr/>
        </p:nvSpPr>
        <p:spPr>
          <a:xfrm>
            <a:off x="8092440" y="5769864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5E57"/>
                </a:solidFill>
              </a:rPr>
              <a:t>Надвратная церковь Иосифо-Волоцкого монастыря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E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it/a3a74f1c-c972-5af6-94a0-a02ac4d8ebfd/scratchpad/prep/nilpust_bg.jp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69968" y="685800"/>
            <a:ext cx="2651760" cy="26517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B8862F"/>
            </a:solidFill>
            <a:prstDash val="solid"/>
          </a:ln>
        </p:spPr>
      </p:sp>
      <p:pic>
        <p:nvPicPr>
          <p:cNvPr id="4" name="Image 1" descr="/tmp/claude-0/-home-user-sait/a3a74f1c-c972-5af6-94a0-a02ac4d8ebfd/scratchpad/prep/logo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428" y="941832"/>
            <a:ext cx="2148840" cy="2092783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61188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внимание!</a:t>
            </a:r>
            <a:endParaRPr lang="en-US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663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9D3A0"/>
                </a:solidFill>
              </a:rPr>
              <a:t>Иосифляне и нестяжатели · История России · ВГУЮ (РПА Минюста России)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1371600" y="5669280"/>
            <a:ext cx="9448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DBFB5"/>
                </a:solidFill>
              </a:rPr>
              <a:t>Источники: Нил Сорский. Устав о скитской жизни; Иосиф Волоцкий. Просветитель; Зимин А. А. Крупная феодальная вотчина и социально-политическая борьба в России; Скрынников Р. Г. Государство и Церковь на Руси XIV–XVI вв.; иллюстрации — Wikimedia Commons.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osiflyane">
  <a:themeElements>
    <a:clrScheme name="Iosiflyane">
      <a:dk1>
        <a:srgbClr val="2A2220"/>
      </a:dk1>
      <a:lt1>
        <a:srgbClr val="FFFFFF"/>
      </a:lt1>
      <a:dk2>
        <a:srgbClr val="3B1414"/>
      </a:dk2>
      <a:lt2>
        <a:srgbClr val="F4EFEA"/>
      </a:lt2>
      <a:accent1>
        <a:srgbClr val="7A2620"/>
      </a:accent1>
      <a:accent2>
        <a:srgbClr val="B8862F"/>
      </a:accent2>
      <a:accent3>
        <a:srgbClr val="2E5E3E"/>
      </a:accent3>
      <a:accent4>
        <a:srgbClr val="8C6A4F"/>
      </a:accent4>
      <a:accent5>
        <a:srgbClr val="4E3B31"/>
      </a:accent5>
      <a:accent6>
        <a:srgbClr val="A64B2A"/>
      </a:accent6>
      <a:hlink>
        <a:srgbClr val="7A2620"/>
      </a:hlink>
      <a:folHlink>
        <a:srgbClr val="8C6A4F"/>
      </a:folHlink>
    </a:clrScheme>
    <a:fontScheme name="Iosiflya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Иосифляне и нестяжатели</dc:title>
  <dc:subject>История России</dc:subject>
  <dc:creator>PptxGenJS</dc:creator>
  <cp:lastModifiedBy>PptxGenJS</cp:lastModifiedBy>
  <cp:revision>1</cp:revision>
  <dcterms:created xsi:type="dcterms:W3CDTF">2026-10-22T11:41:29Z</dcterms:created>
  <dcterms:modified xsi:type="dcterms:W3CDTF">2026-10-22T11:41:29Z</dcterms:modified>
</cp:coreProperties>
</file>