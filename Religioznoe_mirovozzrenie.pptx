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Введение" id="{6bf26a18-caff-e171-76c9-445563dfd45c}">
          <p14:sldIdLst>
            <p14:sldId id="256"/>
          </p14:sldIdLst>
        </p14:section>
        <p14:section name="Основное содержание" id="{76fa34cf-e976-8d3e-0104-d8eae5a7e17c}">
          <p14:sldIdLst>
            <p14:sldId id="257"/>
            <p14:sldId id="258"/>
            <p14:sldId id="259"/>
            <p14:sldId id="260"/>
            <p14:sldId id="261"/>
            <p14:sldId id="262"/>
            <p14:sldId id="263"/>
            <p14:sldId id="264"/>
          </p14:sldIdLst>
        </p14:section>
        <p14:section name="Заключение" id="{ce14255e-4ef8-e306-eb54-32a737fe10a8}">
          <p14:sldIdLst>
            <p14:sldId id="265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Здравствуйте! Тема моего доклада — религиозное мировоззрение как одна из исторических форм мировоззрения. Разберём, что это такое, из чего оно состоит, как развивалось, какие функции выполняет и какое место занимает в российской государственности и культуре.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Слово «религия» восходит к латинскому religio — благочестие, святыня. Главный признак религиозного мировоззрения — вера в сверхъестественное и разделение мира на священное и мирское. Религия отвечает на «вечные» вопросы: откуда мир и человек, в чём смысл жизни, что будет после смерти. В отличие от науки, истина здесь принимается через веру, откровение и религиозный опыт.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Структура мировоззрения включает знания, ценности, идеи, идеалы и убеждения. В религиозном мировоззрении они приобретают особую форму: убеждения — это вера; знания — догматы и священные тексты; ценности и идеалы — спасение, святость, добро; а практическая сторона — культ, обряды и религиозная община. В религии есть и все три уровня мировоззрения: мироощущение (чувство священного), мировосприятие (образы, символы, обряды) и миропонимание (богословие, вероучение).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Религиозное мировоззрение прошло несколько этапов. Первобытные верования — анимизм (одушевление природы), тотемизм (почитание предка-покровителя), фетишизм и магия. Затем — древние политеистические религии с развитым пантеоном, храмами и жречеством. Наконец, мировые религии — буддизм, христианство и ислам — предложили универсальное учение, не ограниченное одним народом.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Рассмотрим четыре религиозные традиции, исторически представленные в России: христианство, ислам, буддизм и иудаизм. Для каждой показан главный священный текст, примерное число последователей в мире и российский пример — храм, мечеть, дацан, синагога. Именно они, согласно закону 1997 года, составляют неотъемлемую часть исторического наследия народов России.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Исторические формы мировоззрения: обыденное, мифологическое, религиозное, философское и естественно-научное. Религиозное мировоззрение возникло после мифологического и отличается тем, что опирается на веру и откровение и выстраивает отношения человека с высшей силой. Философия опирается на разум, наука — на опыт и доказательства. Религия и наука отвечают на разные вопросы: наука — «как устроен мир», религия — «зачем и ради чего». В обыденном (житейском) мировоззрении человека все эти формы нередко соединяются.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Религия выполняет в обществе ряд функций: мировоззренческую, регулятивную (нравственные нормы), интегративную (объединение людей), компенсаторную (утешение), культурную (сохранение традиций) и коммуникативную (общение верующих). Эти функции объясняют, почему религия оказывает такое сильное влияние на культуру и историю народов.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Россия — светское государство: ни одна религия не может быть государственной или обязательной (ст. 14 Конституции), при этом каждому гарантирована свобода совести и вероисповедания (ст. 28). Федеральный закон «О свободе совести и о религиозных объединениях» 1997 г. признаёт особую роль православия и уважает христианство, ислам, буддизм, иудаизм и другие религии как неотъемлемую часть исторического наследия народов России. Традиционные религии формируют духовно-нравственные ценности, на которые опирается российская государственность (Указ Президента № 809 от 09.11.2022 о традиционных ценностях).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Религия тесно связана с понятиями культуры, культурного кода, традиции, ментальности, идеологии и идентичности. Религия формирует культуру — архитектуру, живопись (икона «Троица» Андрея Рублёва, Кижский погост), праздники и обычаи; задаёт культурный код — систему символов и смыслов; закрепляет традиции и ментальность. В отличие от идеологии, которая служит политическим целям, религия опирается на веру в священное. Для многих людей религиозная принадлежность — важная часть идентичности.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Спасибо за внимание! Готов(а) ответить на вопросы. Фотографии: Wikimedia Commons (свободные лицензии CC BY / CC BY-SA / общественное достояние).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03-1.png"/><Relationship Id="rId2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chemeClr val="tx2"/>
          </a:solidFill>
          <a:ln/>
        </p:spPr>
      </p:sp>
      <p:sp>
        <p:nvSpPr>
          <p:cNvPr id="3" name="Text 1"/>
          <p:cNvSpPr/>
          <p:nvPr>
            <p:ph idx="101" type="title" hasCustomPrompt="1"/>
          </p:nvPr>
        </p:nvSpPr>
        <p:spPr>
          <a:xfrm>
            <a:off x="640080" y="3474720"/>
            <a:ext cx="5669280" cy="14630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4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44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64240" cy="7772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400" b="1" dirty="0">
                <a:solidFill>
                  <a:schemeClr val="tx2"/>
                </a:solidFill>
              </a:defRPr>
            </a:lvl1pPr>
          </a:lstStyle>
          <a:p>
            <a:pPr algn="l" indent="0" marL="0">
              <a:buNone/>
            </a:pPr>
            <a:endParaRPr lang="en-US" sz="340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6309360"/>
            <a:ext cx="420624" cy="420624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1097280" y="6373368"/>
            <a:ext cx="8778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chemeClr val="accent6"/>
                </a:solidFill>
              </a:rPr>
              <a:t>ВГУЮ (РПА Минюста России)  ·  Основы российской государственности  ·  Семинарское занятие 9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373368"/>
            <a:ext cx="667512" cy="29260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5B6B61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LOSI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chemeClr val="tx2"/>
          </a:solidFill>
          <a:ln/>
        </p:spPr>
      </p:sp>
      <p:sp>
        <p:nvSpPr>
          <p:cNvPr id="3" name="Text 1"/>
          <p:cNvSpPr/>
          <p:nvPr>
            <p:ph idx="101" type="title" hasCustomPrompt="1"/>
          </p:nvPr>
        </p:nvSpPr>
        <p:spPr>
          <a:xfrm>
            <a:off x="3566160" y="2331720"/>
            <a:ext cx="8229600" cy="13716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8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48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373368"/>
            <a:ext cx="667512" cy="29260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5B6B61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e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jpeg"/><Relationship Id="rId5" Type="http://schemas.openxmlformats.org/officeDocument/2006/relationships/slideLayout" Target="../slideLayouts/slideLayout3.xml"/><Relationship Id="rId6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jpe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slideLayout" Target="../slideLayouts/slideLayout3.xml"/><Relationship Id="rId7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jpeg"/><Relationship Id="rId2" Type="http://schemas.openxmlformats.org/officeDocument/2006/relationships/image" Target="../media/image-4-2.jpeg"/><Relationship Id="rId3" Type="http://schemas.openxmlformats.org/officeDocument/2006/relationships/image" Target="../media/image-4-3.jpeg"/><Relationship Id="rId4" Type="http://schemas.openxmlformats.org/officeDocument/2006/relationships/slideLayout" Target="../slideLayouts/slideLayout3.xml"/><Relationship Id="rId5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jpeg"/><Relationship Id="rId2" Type="http://schemas.openxmlformats.org/officeDocument/2006/relationships/image" Target="../media/image-5-2.jpeg"/><Relationship Id="rId3" Type="http://schemas.openxmlformats.org/officeDocument/2006/relationships/image" Target="../media/image-5-3.jpeg"/><Relationship Id="rId4" Type="http://schemas.openxmlformats.org/officeDocument/2006/relationships/image" Target="../media/image-5-4.jpeg"/><Relationship Id="rId5" Type="http://schemas.openxmlformats.org/officeDocument/2006/relationships/slideLayout" Target="../slideLayouts/slideLayout3.xml"/><Relationship Id="rId6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slideLayout" Target="../slideLayouts/slideLayout3.xml"/><Relationship Id="rId6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jpe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image" Target="../media/image-7-5.png"/><Relationship Id="rId6" Type="http://schemas.openxmlformats.org/officeDocument/2006/relationships/image" Target="../media/image-7-6.png"/><Relationship Id="rId7" Type="http://schemas.openxmlformats.org/officeDocument/2006/relationships/image" Target="../media/image-7-7.png"/><Relationship Id="rId8" Type="http://schemas.openxmlformats.org/officeDocument/2006/relationships/slideLayout" Target="../slideLayouts/slideLayout3.xml"/><Relationship Id="rId9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jpe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slideLayout" Target="../slideLayouts/slideLayout3.xml"/><Relationship Id="rId6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jpeg"/><Relationship Id="rId2" Type="http://schemas.openxmlformats.org/officeDocument/2006/relationships/image" Target="../media/image-9-2.jpe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image" Target="../media/image-9-5.png"/><Relationship Id="rId6" Type="http://schemas.openxmlformats.org/officeDocument/2006/relationships/image" Target="../media/image-9-6.png"/><Relationship Id="rId7" Type="http://schemas.openxmlformats.org/officeDocument/2006/relationships/image" Target="../media/image-9-7.png"/><Relationship Id="rId8" Type="http://schemas.openxmlformats.org/officeDocument/2006/relationships/image" Target="../media/image-9-8.png"/><Relationship Id="rId9" Type="http://schemas.openxmlformats.org/officeDocument/2006/relationships/slideLayout" Target="../slideLayouts/slideLayout3.xml"/><Relationship Id="rId10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jpeg"/><Relationship Id="rId2" Type="http://schemas.openxmlformats.org/officeDocument/2006/relationships/image" Target="../media/image-10-2.png"/><Relationship Id="rId3" Type="http://schemas.openxmlformats.org/officeDocument/2006/relationships/slideLayout" Target="../slideLayouts/slideLayout4.xml"/><Relationship Id="rId4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Title photo" descr="Храм Христа Спасителя в Москве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766560" y="0"/>
            <a:ext cx="5425135" cy="6858000"/>
          </a:xfrm>
          <a:prstGeom prst="rect">
            <a:avLst/>
          </a:prstGeom>
        </p:spPr>
      </p:pic>
      <p:sp>
        <p:nvSpPr>
          <p:cNvPr id="3" name="Logo card"/>
          <p:cNvSpPr/>
          <p:nvPr/>
        </p:nvSpPr>
        <p:spPr>
          <a:xfrm>
            <a:off x="640080" y="548640"/>
            <a:ext cx="1600200" cy="1600200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</p:spPr>
      </p:sp>
      <p:pic>
        <p:nvPicPr>
          <p:cNvPr id="4" name="University logo" descr="Эмблема Всероссийского государственного университета юстиции (РПА Минюста России)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3232" y="621792"/>
            <a:ext cx="1453896" cy="1453896"/>
          </a:xfrm>
          <a:prstGeom prst="rect">
            <a:avLst/>
          </a:prstGeom>
        </p:spPr>
      </p:pic>
      <p:sp>
        <p:nvSpPr>
          <p:cNvPr id="5" name="University name"/>
          <p:cNvSpPr txBox="1"/>
          <p:nvPr/>
        </p:nvSpPr>
        <p:spPr>
          <a:xfrm>
            <a:off x="2514600" y="548640"/>
            <a:ext cx="393192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Всероссийский государственный университет юстиции (РПА Минюста России)</a:t>
            </a:r>
            <a:endParaRPr lang="en-US" sz="1600" dirty="0"/>
          </a:p>
        </p:txBody>
      </p:sp>
      <p:sp>
        <p:nvSpPr>
          <p:cNvPr id="6" name="Discipline"/>
          <p:cNvSpPr txBox="1"/>
          <p:nvPr/>
        </p:nvSpPr>
        <p:spPr>
          <a:xfrm>
            <a:off x="640080" y="2423160"/>
            <a:ext cx="5760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2"/>
                </a:solidFill>
              </a:rPr>
              <a:t>Дисциплина «Основы российской государственности»</a:t>
            </a:r>
            <a:endParaRPr lang="en-US" sz="1600" dirty="0"/>
          </a:p>
        </p:txBody>
      </p:sp>
      <p:sp>
        <p:nvSpPr>
          <p:cNvPr id="7" name="Seminar"/>
          <p:cNvSpPr txBox="1"/>
          <p:nvPr/>
        </p:nvSpPr>
        <p:spPr>
          <a:xfrm>
            <a:off x="640080" y="2743200"/>
            <a:ext cx="5760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bg1"/>
                </a:solidFill>
              </a:rPr>
              <a:t>Семинарское занятие 9. Концепт мировоззрения в социальных науках</a:t>
            </a:r>
            <a:endParaRPr lang="en-US" sz="1600" dirty="0"/>
          </a:p>
        </p:txBody>
      </p:sp>
      <p:sp>
        <p:nvSpPr>
          <p:cNvPr id="8" name="Text 1"/>
          <p:cNvSpPr/>
          <p:nvPr>
            <p:ph idx="101" type="title" hasCustomPrompt="1"/>
          </p:nvPr>
        </p:nvSpPr>
        <p:spPr>
          <a:xfrm>
            <a:off x="640080" y="3474720"/>
            <a:ext cx="56692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400" b="1" dirty="0">
                <a:solidFill>
                  <a:schemeClr val="bg1"/>
                </a:solidFill>
              </a:rPr>
              <a:t>Религиозное мировоззрение</a:t>
            </a:r>
            <a:endParaRPr lang="en-US" sz="4400" dirty="0"/>
          </a:p>
        </p:txBody>
      </p:sp>
      <p:sp>
        <p:nvSpPr>
          <p:cNvPr id="9" name="Subtitle"/>
          <p:cNvSpPr txBox="1"/>
          <p:nvPr/>
        </p:nvSpPr>
        <p:spPr>
          <a:xfrm>
            <a:off x="640080" y="5029200"/>
            <a:ext cx="5760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i="1" dirty="0">
                <a:solidFill>
                  <a:schemeClr val="accent2"/>
                </a:solidFill>
              </a:rPr>
              <a:t>Историческая форма мировоззрения</a:t>
            </a:r>
            <a:endParaRPr lang="en-US" sz="2000" dirty="0"/>
          </a:p>
        </p:txBody>
      </p:sp>
      <p:sp>
        <p:nvSpPr>
          <p:cNvPr id="10" name="Author line"/>
          <p:cNvSpPr txBox="1"/>
          <p:nvPr/>
        </p:nvSpPr>
        <p:spPr>
          <a:xfrm>
            <a:off x="640080" y="5989320"/>
            <a:ext cx="5943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bg1"/>
                </a:solidFill>
              </a:rPr>
              <a:t>Выполнил(а): ______________________   Группа: ________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2"/>
                </a:solidFill>
              </a:rPr>
              <a:t>Понятие религиозного мировоззрения</a:t>
            </a:r>
            <a:endParaRPr lang="en-US" sz="3400" dirty="0"/>
          </a:p>
        </p:txBody>
      </p:sp>
      <p:sp>
        <p:nvSpPr>
          <p:cNvPr id="3" name="Definition card"/>
          <p:cNvSpPr/>
          <p:nvPr/>
        </p:nvSpPr>
        <p:spPr>
          <a:xfrm>
            <a:off x="548640" y="1371600"/>
            <a:ext cx="6766560" cy="1600200"/>
          </a:xfrm>
          <a:prstGeom prst="rect">
            <a:avLst/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4" name="Definition label"/>
          <p:cNvSpPr txBox="1"/>
          <p:nvPr/>
        </p:nvSpPr>
        <p:spPr>
          <a:xfrm>
            <a:off x="822960" y="1481328"/>
            <a:ext cx="6217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2"/>
                </a:solidFill>
              </a:rPr>
              <a:t>ОПРЕДЕЛЕНИЕ</a:t>
            </a:r>
            <a:endParaRPr lang="en-US" sz="1200" dirty="0"/>
          </a:p>
        </p:txBody>
      </p:sp>
      <p:sp>
        <p:nvSpPr>
          <p:cNvPr id="5" name="Definition text"/>
          <p:cNvSpPr txBox="1"/>
          <p:nvPr/>
        </p:nvSpPr>
        <p:spPr>
          <a:xfrm>
            <a:off x="822960" y="1783080"/>
            <a:ext cx="62179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chemeClr val="bg1"/>
                </a:solidFill>
              </a:rPr>
              <a:t>Религиозное мировоззрение — система взглядов на мир, человека и общество, основанная на вере в сверхъестественное: Бога, богов или священное начало.</a:t>
            </a:r>
            <a:endParaRPr lang="en-US" sz="1800" dirty="0"/>
          </a:p>
        </p:txBody>
      </p:sp>
      <p:sp>
        <p:nvSpPr>
          <p:cNvPr id="6" name="Row 1 badge"/>
          <p:cNvSpPr/>
          <p:nvPr/>
        </p:nvSpPr>
        <p:spPr>
          <a:xfrm>
            <a:off x="548640" y="3310128"/>
            <a:ext cx="603504" cy="603504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7" name="Row 1 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99516" y="3461004"/>
            <a:ext cx="301752" cy="301752"/>
          </a:xfrm>
          <a:prstGeom prst="rect">
            <a:avLst/>
          </a:prstGeom>
        </p:spPr>
      </p:pic>
      <p:sp>
        <p:nvSpPr>
          <p:cNvPr id="8" name="Row 1 text"/>
          <p:cNvSpPr txBox="1"/>
          <p:nvPr/>
        </p:nvSpPr>
        <p:spPr>
          <a:xfrm>
            <a:off x="1371600" y="3200400"/>
            <a:ext cx="5943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2"/>
                </a:solidFill>
              </a:rPr>
              <a:t>Деление мира на священное и мирское</a:t>
            </a:r>
            <a:endParaRPr lang="en-US" sz="1700" dirty="0"/>
          </a:p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Сакральное воспринимается как высшая ценность и источник смысла жизни.</a:t>
            </a:r>
            <a:endParaRPr lang="en-US" sz="1700" dirty="0"/>
          </a:p>
        </p:txBody>
      </p:sp>
      <p:sp>
        <p:nvSpPr>
          <p:cNvPr id="9" name="Row 2 badge"/>
          <p:cNvSpPr/>
          <p:nvPr/>
        </p:nvSpPr>
        <p:spPr>
          <a:xfrm>
            <a:off x="548640" y="4242816"/>
            <a:ext cx="603504" cy="603504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10" name="Row 2 icon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9516" y="4393692"/>
            <a:ext cx="301752" cy="301752"/>
          </a:xfrm>
          <a:prstGeom prst="rect">
            <a:avLst/>
          </a:prstGeom>
        </p:spPr>
      </p:pic>
      <p:sp>
        <p:nvSpPr>
          <p:cNvPr id="11" name="Row 2 text"/>
          <p:cNvSpPr txBox="1"/>
          <p:nvPr/>
        </p:nvSpPr>
        <p:spPr>
          <a:xfrm>
            <a:off x="1371600" y="4133088"/>
            <a:ext cx="5943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2"/>
                </a:solidFill>
              </a:rPr>
              <a:t>Опора на веру и откровение</a:t>
            </a:r>
            <a:endParaRPr lang="en-US" sz="1700" dirty="0"/>
          </a:p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Истина принимается через веру, священные тексты и религиозный опыт.</a:t>
            </a:r>
            <a:endParaRPr lang="en-US" sz="1700" dirty="0"/>
          </a:p>
        </p:txBody>
      </p:sp>
      <p:sp>
        <p:nvSpPr>
          <p:cNvPr id="12" name="Row 3 badge"/>
          <p:cNvSpPr/>
          <p:nvPr/>
        </p:nvSpPr>
        <p:spPr>
          <a:xfrm>
            <a:off x="548640" y="5175504"/>
            <a:ext cx="603504" cy="603504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13" name="Row 3 icon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9516" y="5326380"/>
            <a:ext cx="301752" cy="301752"/>
          </a:xfrm>
          <a:prstGeom prst="rect">
            <a:avLst/>
          </a:prstGeom>
        </p:spPr>
      </p:pic>
      <p:sp>
        <p:nvSpPr>
          <p:cNvPr id="14" name="Row 3 text"/>
          <p:cNvSpPr txBox="1"/>
          <p:nvPr/>
        </p:nvSpPr>
        <p:spPr>
          <a:xfrm>
            <a:off x="1371600" y="5065776"/>
            <a:ext cx="5943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2"/>
                </a:solidFill>
              </a:rPr>
              <a:t>Ответы на смысложизненные вопросы</a:t>
            </a:r>
            <a:endParaRPr lang="en-US" sz="1700" dirty="0"/>
          </a:p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Откуда мир и человек? В чём смысл жизни? Что ждёт человека после смерти?</a:t>
            </a:r>
            <a:endParaRPr lang="en-US" sz="1700" dirty="0"/>
          </a:p>
        </p:txBody>
      </p:sp>
      <p:pic>
        <p:nvPicPr>
          <p:cNvPr id="15" name="Photo candles" descr="Горящие свечи в православном храме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89520" y="1371600"/>
            <a:ext cx="4050792" cy="4434840"/>
          </a:xfrm>
          <a:prstGeom prst="rect">
            <a:avLst/>
          </a:prstGeom>
        </p:spPr>
      </p:pic>
      <p:sp>
        <p:nvSpPr>
          <p:cNvPr id="16" name="Photo caption"/>
          <p:cNvSpPr txBox="1"/>
          <p:nvPr/>
        </p:nvSpPr>
        <p:spPr>
          <a:xfrm>
            <a:off x="7589520" y="5852160"/>
            <a:ext cx="4050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chemeClr val="accent6"/>
                </a:solidFill>
              </a:rPr>
              <a:t>Свечи в православном храме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373368"/>
            <a:ext cx="667512" cy="29260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5B6B61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2"/>
                </a:solidFill>
              </a:rPr>
              <a:t>Структура религиозного мировоззрения</a:t>
            </a:r>
            <a:endParaRPr lang="en-US" sz="3400" dirty="0"/>
          </a:p>
        </p:txBody>
      </p:sp>
      <p:pic>
        <p:nvPicPr>
          <p:cNvPr id="3" name="Photo altar" descr="Верующие молятся перед иконой в храме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371600"/>
            <a:ext cx="3840480" cy="4572000"/>
          </a:xfrm>
          <a:prstGeom prst="rect">
            <a:avLst/>
          </a:prstGeom>
        </p:spPr>
      </p:pic>
      <p:sp>
        <p:nvSpPr>
          <p:cNvPr id="4" name="Card 1"/>
          <p:cNvSpPr/>
          <p:nvPr/>
        </p:nvSpPr>
        <p:spPr>
          <a:xfrm>
            <a:off x="4663440" y="1371600"/>
            <a:ext cx="3429000" cy="2194560"/>
          </a:xfrm>
          <a:prstGeom prst="rect">
            <a:avLst/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5" name="Card 1 badge"/>
          <p:cNvSpPr/>
          <p:nvPr/>
        </p:nvSpPr>
        <p:spPr>
          <a:xfrm>
            <a:off x="4846320" y="1554480"/>
            <a:ext cx="566928" cy="56692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6" name="Card 1 icon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88052" y="1696212"/>
            <a:ext cx="283464" cy="283464"/>
          </a:xfrm>
          <a:prstGeom prst="rect">
            <a:avLst/>
          </a:prstGeom>
        </p:spPr>
      </p:pic>
      <p:sp>
        <p:nvSpPr>
          <p:cNvPr id="7" name="Card 1 title"/>
          <p:cNvSpPr txBox="1"/>
          <p:nvPr/>
        </p:nvSpPr>
        <p:spPr>
          <a:xfrm>
            <a:off x="5532120" y="1554480"/>
            <a:ext cx="2423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2"/>
                </a:solidFill>
              </a:rPr>
              <a:t>Вера и убеждения</a:t>
            </a:r>
            <a:endParaRPr lang="en-US" sz="1700" dirty="0"/>
          </a:p>
        </p:txBody>
      </p:sp>
      <p:sp>
        <p:nvSpPr>
          <p:cNvPr id="8" name="Card 1 text"/>
          <p:cNvSpPr txBox="1"/>
          <p:nvPr/>
        </p:nvSpPr>
        <p:spPr>
          <a:xfrm>
            <a:off x="4846320" y="2286000"/>
            <a:ext cx="30632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Основа мировоззрения: уверенность в существовании Бога и сверхъестественного порядка мира.</a:t>
            </a:r>
            <a:endParaRPr lang="en-US" sz="1600" dirty="0"/>
          </a:p>
        </p:txBody>
      </p:sp>
      <p:sp>
        <p:nvSpPr>
          <p:cNvPr id="9" name="Card 2"/>
          <p:cNvSpPr/>
          <p:nvPr/>
        </p:nvSpPr>
        <p:spPr>
          <a:xfrm>
            <a:off x="8211312" y="1371600"/>
            <a:ext cx="3429000" cy="2194560"/>
          </a:xfrm>
          <a:prstGeom prst="rect">
            <a:avLst/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0" name="Card 2 badge"/>
          <p:cNvSpPr/>
          <p:nvPr/>
        </p:nvSpPr>
        <p:spPr>
          <a:xfrm>
            <a:off x="8394192" y="1554480"/>
            <a:ext cx="566928" cy="56692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11" name="Card 2 icon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35924" y="1696212"/>
            <a:ext cx="283464" cy="283464"/>
          </a:xfrm>
          <a:prstGeom prst="rect">
            <a:avLst/>
          </a:prstGeom>
        </p:spPr>
      </p:pic>
      <p:sp>
        <p:nvSpPr>
          <p:cNvPr id="12" name="Card 2 title"/>
          <p:cNvSpPr txBox="1"/>
          <p:nvPr/>
        </p:nvSpPr>
        <p:spPr>
          <a:xfrm>
            <a:off x="9079992" y="1554480"/>
            <a:ext cx="2423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2"/>
                </a:solidFill>
              </a:rPr>
              <a:t>Знания и священные тексты</a:t>
            </a:r>
            <a:endParaRPr lang="en-US" sz="1700" dirty="0"/>
          </a:p>
        </p:txBody>
      </p:sp>
      <p:sp>
        <p:nvSpPr>
          <p:cNvPr id="13" name="Card 2 text"/>
          <p:cNvSpPr txBox="1"/>
          <p:nvPr/>
        </p:nvSpPr>
        <p:spPr>
          <a:xfrm>
            <a:off x="8394192" y="2286000"/>
            <a:ext cx="30632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Догматы и предание: Библия, Коран, Тора, Трипитака.</a:t>
            </a:r>
            <a:endParaRPr lang="en-US" sz="1600" dirty="0"/>
          </a:p>
        </p:txBody>
      </p:sp>
      <p:sp>
        <p:nvSpPr>
          <p:cNvPr id="14" name="Card 3"/>
          <p:cNvSpPr/>
          <p:nvPr/>
        </p:nvSpPr>
        <p:spPr>
          <a:xfrm>
            <a:off x="4663440" y="3749040"/>
            <a:ext cx="3429000" cy="2194560"/>
          </a:xfrm>
          <a:prstGeom prst="rect">
            <a:avLst/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5" name="Card 3 badge"/>
          <p:cNvSpPr/>
          <p:nvPr/>
        </p:nvSpPr>
        <p:spPr>
          <a:xfrm>
            <a:off x="4846320" y="3931920"/>
            <a:ext cx="566928" cy="56692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16" name="Card 3 icon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88052" y="4073652"/>
            <a:ext cx="283464" cy="283464"/>
          </a:xfrm>
          <a:prstGeom prst="rect">
            <a:avLst/>
          </a:prstGeom>
        </p:spPr>
      </p:pic>
      <p:sp>
        <p:nvSpPr>
          <p:cNvPr id="17" name="Card 3 title"/>
          <p:cNvSpPr txBox="1"/>
          <p:nvPr/>
        </p:nvSpPr>
        <p:spPr>
          <a:xfrm>
            <a:off x="5532120" y="3931920"/>
            <a:ext cx="2423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2"/>
                </a:solidFill>
              </a:rPr>
              <a:t>Ценности и идеалы</a:t>
            </a:r>
            <a:endParaRPr lang="en-US" sz="1700" dirty="0"/>
          </a:p>
        </p:txBody>
      </p:sp>
      <p:sp>
        <p:nvSpPr>
          <p:cNvPr id="18" name="Card 3 text"/>
          <p:cNvSpPr txBox="1"/>
          <p:nvPr/>
        </p:nvSpPr>
        <p:spPr>
          <a:xfrm>
            <a:off x="4846320" y="4663440"/>
            <a:ext cx="30632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Добро и грех, спасение, святость, милосердие, долг перед Богом и людьми.</a:t>
            </a:r>
            <a:endParaRPr lang="en-US" sz="1600" dirty="0"/>
          </a:p>
        </p:txBody>
      </p:sp>
      <p:sp>
        <p:nvSpPr>
          <p:cNvPr id="19" name="Card 4"/>
          <p:cNvSpPr/>
          <p:nvPr/>
        </p:nvSpPr>
        <p:spPr>
          <a:xfrm>
            <a:off x="8211312" y="3749040"/>
            <a:ext cx="3429000" cy="2194560"/>
          </a:xfrm>
          <a:prstGeom prst="rect">
            <a:avLst/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0" name="Card 4 badge"/>
          <p:cNvSpPr/>
          <p:nvPr/>
        </p:nvSpPr>
        <p:spPr>
          <a:xfrm>
            <a:off x="8394192" y="3931920"/>
            <a:ext cx="566928" cy="56692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21" name="Card 4 icon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535924" y="4073652"/>
            <a:ext cx="283464" cy="283464"/>
          </a:xfrm>
          <a:prstGeom prst="rect">
            <a:avLst/>
          </a:prstGeom>
        </p:spPr>
      </p:pic>
      <p:sp>
        <p:nvSpPr>
          <p:cNvPr id="22" name="Card 4 title"/>
          <p:cNvSpPr txBox="1"/>
          <p:nvPr/>
        </p:nvSpPr>
        <p:spPr>
          <a:xfrm>
            <a:off x="9079992" y="3931920"/>
            <a:ext cx="2423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2"/>
                </a:solidFill>
              </a:rPr>
              <a:t>Культ и сообщество</a:t>
            </a:r>
            <a:endParaRPr lang="en-US" sz="1700" dirty="0"/>
          </a:p>
        </p:txBody>
      </p:sp>
      <p:sp>
        <p:nvSpPr>
          <p:cNvPr id="23" name="Card 4 text"/>
          <p:cNvSpPr txBox="1"/>
          <p:nvPr/>
        </p:nvSpPr>
        <p:spPr>
          <a:xfrm>
            <a:off x="8394192" y="4663440"/>
            <a:ext cx="30632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Молитвы, обряды, праздники; церковь, умма, сангха — общины верующих.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373368"/>
            <a:ext cx="667512" cy="29260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5B6B61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2"/>
                </a:solidFill>
              </a:rPr>
              <a:t>Историческое развитие религии</a:t>
            </a:r>
            <a:endParaRPr lang="en-US" sz="3400" dirty="0"/>
          </a:p>
        </p:txBody>
      </p:sp>
      <p:sp>
        <p:nvSpPr>
          <p:cNvPr id="3" name="Stage 1"/>
          <p:cNvSpPr/>
          <p:nvPr/>
        </p:nvSpPr>
        <p:spPr>
          <a:xfrm>
            <a:off x="548640" y="1371600"/>
            <a:ext cx="3520440" cy="4663440"/>
          </a:xfrm>
          <a:prstGeom prst="rect">
            <a:avLst/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pic>
        <p:nvPicPr>
          <p:cNvPr id="4" name="Stage 1 photo" descr="Каменный столб с рельефом, Гёбекли-Тепе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371600"/>
            <a:ext cx="3520440" cy="2148840"/>
          </a:xfrm>
          <a:prstGeom prst="rect">
            <a:avLst/>
          </a:prstGeom>
        </p:spPr>
      </p:pic>
      <p:sp>
        <p:nvSpPr>
          <p:cNvPr id="5" name="Number 1"/>
          <p:cNvSpPr/>
          <p:nvPr/>
        </p:nvSpPr>
        <p:spPr>
          <a:xfrm>
            <a:off x="731520" y="3273552"/>
            <a:ext cx="502920" cy="502920"/>
          </a:xfrm>
          <a:prstGeom prst="ellipse">
            <a:avLst/>
          </a:prstGeom>
          <a:solidFill>
            <a:schemeClr val="accent2"/>
          </a:solidFill>
          <a:ln w="25400">
            <a:solidFill>
              <a:schemeClr val="bg1"/>
            </a:solidFill>
            <a:prstDash val="solid"/>
          </a:ln>
        </p:spPr>
      </p:sp>
      <p:sp>
        <p:nvSpPr>
          <p:cNvPr id="6" name="Number 1 label"/>
          <p:cNvSpPr txBox="1"/>
          <p:nvPr/>
        </p:nvSpPr>
        <p:spPr>
          <a:xfrm>
            <a:off x="731520" y="327355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1</a:t>
            </a:r>
            <a:endParaRPr lang="en-US" sz="1800" dirty="0"/>
          </a:p>
        </p:txBody>
      </p:sp>
      <p:sp>
        <p:nvSpPr>
          <p:cNvPr id="7" name="Stage 1 title"/>
          <p:cNvSpPr txBox="1"/>
          <p:nvPr/>
        </p:nvSpPr>
        <p:spPr>
          <a:xfrm>
            <a:off x="731520" y="3886200"/>
            <a:ext cx="3154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Первобытные верования</a:t>
            </a:r>
            <a:endParaRPr lang="en-US" sz="1800" dirty="0"/>
          </a:p>
        </p:txBody>
      </p:sp>
      <p:sp>
        <p:nvSpPr>
          <p:cNvPr id="8" name="Stage 1 text"/>
          <p:cNvSpPr txBox="1"/>
          <p:nvPr/>
        </p:nvSpPr>
        <p:spPr>
          <a:xfrm>
            <a:off x="731520" y="4434840"/>
            <a:ext cx="31546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Анимизм, тотемизм, фетишизм, магия: поклонение силам природы и предкам. Гёбекли-Тепе (Турция) — одно из древнейших святилищ, около 10 тыс. лет до н. э.</a:t>
            </a:r>
            <a:endParaRPr lang="en-US" sz="1500" dirty="0"/>
          </a:p>
        </p:txBody>
      </p:sp>
      <p:sp>
        <p:nvSpPr>
          <p:cNvPr id="9" name="Stage 2"/>
          <p:cNvSpPr/>
          <p:nvPr/>
        </p:nvSpPr>
        <p:spPr>
          <a:xfrm>
            <a:off x="4343400" y="1371600"/>
            <a:ext cx="3520440" cy="4663440"/>
          </a:xfrm>
          <a:prstGeom prst="rect">
            <a:avLst/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pic>
        <p:nvPicPr>
          <p:cNvPr id="10" name="Stage 2 photo" descr="Колонны храма в Карнаке, Египет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43400" y="1371600"/>
            <a:ext cx="3520440" cy="2148840"/>
          </a:xfrm>
          <a:prstGeom prst="rect">
            <a:avLst/>
          </a:prstGeom>
        </p:spPr>
      </p:pic>
      <p:sp>
        <p:nvSpPr>
          <p:cNvPr id="11" name="Number 2"/>
          <p:cNvSpPr/>
          <p:nvPr/>
        </p:nvSpPr>
        <p:spPr>
          <a:xfrm>
            <a:off x="4526280" y="3273552"/>
            <a:ext cx="502920" cy="502920"/>
          </a:xfrm>
          <a:prstGeom prst="ellipse">
            <a:avLst/>
          </a:prstGeom>
          <a:solidFill>
            <a:schemeClr val="accent2"/>
          </a:solidFill>
          <a:ln w="25400">
            <a:solidFill>
              <a:schemeClr val="bg1"/>
            </a:solidFill>
            <a:prstDash val="solid"/>
          </a:ln>
        </p:spPr>
      </p:sp>
      <p:sp>
        <p:nvSpPr>
          <p:cNvPr id="12" name="Number 2 label"/>
          <p:cNvSpPr txBox="1"/>
          <p:nvPr/>
        </p:nvSpPr>
        <p:spPr>
          <a:xfrm>
            <a:off x="4526280" y="327355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2</a:t>
            </a:r>
            <a:endParaRPr lang="en-US" sz="1800" dirty="0"/>
          </a:p>
        </p:txBody>
      </p:sp>
      <p:sp>
        <p:nvSpPr>
          <p:cNvPr id="13" name="Stage 2 title"/>
          <p:cNvSpPr txBox="1"/>
          <p:nvPr/>
        </p:nvSpPr>
        <p:spPr>
          <a:xfrm>
            <a:off x="4526280" y="3886200"/>
            <a:ext cx="3154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Политеизм Древнего мира</a:t>
            </a:r>
            <a:endParaRPr lang="en-US" sz="1800" dirty="0"/>
          </a:p>
        </p:txBody>
      </p:sp>
      <p:sp>
        <p:nvSpPr>
          <p:cNvPr id="14" name="Stage 2 text"/>
          <p:cNvSpPr txBox="1"/>
          <p:nvPr/>
        </p:nvSpPr>
        <p:spPr>
          <a:xfrm>
            <a:off x="4526280" y="4434840"/>
            <a:ext cx="31546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Египет, Греция, Рим, Междуречье: пантеон богов, покровительствующих разным сферам жизни, храмы и жрецы. Карнак — крупнейший культовый комплекс Египта.</a:t>
            </a:r>
            <a:endParaRPr lang="en-US" sz="1500" dirty="0"/>
          </a:p>
        </p:txBody>
      </p:sp>
      <p:sp>
        <p:nvSpPr>
          <p:cNvPr id="15" name="Stage 3"/>
          <p:cNvSpPr/>
          <p:nvPr/>
        </p:nvSpPr>
        <p:spPr>
          <a:xfrm>
            <a:off x="8138160" y="1371600"/>
            <a:ext cx="3520440" cy="4663440"/>
          </a:xfrm>
          <a:prstGeom prst="rect">
            <a:avLst/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pic>
        <p:nvPicPr>
          <p:cNvPr id="16" name="Stage 3 photo" descr="Фрески церкви Айя-София, Трабзон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38160" y="1371600"/>
            <a:ext cx="3520440" cy="2148840"/>
          </a:xfrm>
          <a:prstGeom prst="rect">
            <a:avLst/>
          </a:prstGeom>
        </p:spPr>
      </p:pic>
      <p:sp>
        <p:nvSpPr>
          <p:cNvPr id="17" name="Number 3"/>
          <p:cNvSpPr/>
          <p:nvPr/>
        </p:nvSpPr>
        <p:spPr>
          <a:xfrm>
            <a:off x="8321040" y="3273552"/>
            <a:ext cx="502920" cy="502920"/>
          </a:xfrm>
          <a:prstGeom prst="ellipse">
            <a:avLst/>
          </a:prstGeom>
          <a:solidFill>
            <a:schemeClr val="accent2"/>
          </a:solidFill>
          <a:ln w="25400">
            <a:solidFill>
              <a:schemeClr val="bg1"/>
            </a:solidFill>
            <a:prstDash val="solid"/>
          </a:ln>
        </p:spPr>
      </p:sp>
      <p:sp>
        <p:nvSpPr>
          <p:cNvPr id="18" name="Number 3 label"/>
          <p:cNvSpPr txBox="1"/>
          <p:nvPr/>
        </p:nvSpPr>
        <p:spPr>
          <a:xfrm>
            <a:off x="8321040" y="327355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3</a:t>
            </a:r>
            <a:endParaRPr lang="en-US" sz="1800" dirty="0"/>
          </a:p>
        </p:txBody>
      </p:sp>
      <p:sp>
        <p:nvSpPr>
          <p:cNvPr id="19" name="Stage 3 title"/>
          <p:cNvSpPr txBox="1"/>
          <p:nvPr/>
        </p:nvSpPr>
        <p:spPr>
          <a:xfrm>
            <a:off x="8321040" y="3886200"/>
            <a:ext cx="3154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Мировые религии</a:t>
            </a:r>
            <a:endParaRPr lang="en-US" sz="1800" dirty="0"/>
          </a:p>
        </p:txBody>
      </p:sp>
      <p:sp>
        <p:nvSpPr>
          <p:cNvPr id="20" name="Stage 3 text"/>
          <p:cNvSpPr txBox="1"/>
          <p:nvPr/>
        </p:nvSpPr>
        <p:spPr>
          <a:xfrm>
            <a:off x="8321040" y="4434840"/>
            <a:ext cx="31546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Буддизм, христианство, ислам: единое учение для людей разных народов, священные книги, этика, развитая церковная организация.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373368"/>
            <a:ext cx="667512" cy="29260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5B6B61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2"/>
                </a:solidFill>
              </a:rPr>
              <a:t>Основные религиозные традиции</a:t>
            </a:r>
            <a:endParaRPr lang="en-US" sz="3400" dirty="0"/>
          </a:p>
        </p:txBody>
      </p:sp>
      <p:sp>
        <p:nvSpPr>
          <p:cNvPr id="3" name="Tradition 1"/>
          <p:cNvSpPr/>
          <p:nvPr/>
        </p:nvSpPr>
        <p:spPr>
          <a:xfrm>
            <a:off x="548640" y="1371600"/>
            <a:ext cx="2606040" cy="4663440"/>
          </a:xfrm>
          <a:prstGeom prst="rect">
            <a:avLst/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pic>
        <p:nvPicPr>
          <p:cNvPr id="4" name="Tradition 1 photo" descr="Храм Христа Спасителя, Москва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371600"/>
            <a:ext cx="2606040" cy="2194560"/>
          </a:xfrm>
          <a:prstGeom prst="rect">
            <a:avLst/>
          </a:prstGeom>
        </p:spPr>
      </p:pic>
      <p:sp>
        <p:nvSpPr>
          <p:cNvPr id="5" name="Tradition 1 title"/>
          <p:cNvSpPr txBox="1"/>
          <p:nvPr/>
        </p:nvSpPr>
        <p:spPr>
          <a:xfrm>
            <a:off x="731520" y="3675888"/>
            <a:ext cx="2240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tx2"/>
                </a:solidFill>
              </a:rPr>
              <a:t>Христианство</a:t>
            </a:r>
            <a:endParaRPr lang="en-US" sz="2000" dirty="0"/>
          </a:p>
        </p:txBody>
      </p:sp>
      <p:sp>
        <p:nvSpPr>
          <p:cNvPr id="6" name="Tradition 1 caption"/>
          <p:cNvSpPr txBox="1"/>
          <p:nvPr/>
        </p:nvSpPr>
        <p:spPr>
          <a:xfrm>
            <a:off x="731520" y="4041648"/>
            <a:ext cx="2240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chemeClr val="accent6"/>
                </a:solidFill>
              </a:rPr>
              <a:t>Храм Христа Спасителя, Москва</a:t>
            </a:r>
            <a:endParaRPr lang="en-US" sz="1200" dirty="0"/>
          </a:p>
        </p:txBody>
      </p:sp>
      <p:sp>
        <p:nvSpPr>
          <p:cNvPr id="7" name="Tradition 1 text"/>
          <p:cNvSpPr txBox="1"/>
          <p:nvPr/>
        </p:nvSpPr>
        <p:spPr>
          <a:xfrm>
            <a:off x="731520" y="4434840"/>
            <a:ext cx="22402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400" b="1" dirty="0">
                <a:solidFill>
                  <a:schemeClr val="tx2"/>
                </a:solidFill>
              </a:rPr>
              <a:t>Писание: </a:t>
            </a:r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Библия.</a:t>
            </a:r>
            <a:endParaRPr lang="en-US" sz="14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400" b="1" dirty="0">
                <a:solidFill>
                  <a:schemeClr val="tx2"/>
                </a:solidFill>
              </a:rPr>
              <a:t>Последователей: </a:t>
            </a:r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более 2 млрд.</a:t>
            </a:r>
            <a:endParaRPr lang="en-US" sz="14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400" b="1" dirty="0">
                <a:solidFill>
                  <a:schemeClr val="tx2"/>
                </a:solidFill>
              </a:rPr>
              <a:t>В России: </a:t>
            </a:r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православие — крупнейшая конфессия.</a:t>
            </a:r>
            <a:endParaRPr lang="en-US" sz="1400" dirty="0"/>
          </a:p>
        </p:txBody>
      </p:sp>
      <p:sp>
        <p:nvSpPr>
          <p:cNvPr id="8" name="Tradition 2"/>
          <p:cNvSpPr/>
          <p:nvPr/>
        </p:nvSpPr>
        <p:spPr>
          <a:xfrm>
            <a:off x="3383280" y="1371600"/>
            <a:ext cx="2606040" cy="4663440"/>
          </a:xfrm>
          <a:prstGeom prst="rect">
            <a:avLst/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pic>
        <p:nvPicPr>
          <p:cNvPr id="9" name="Tradition 2 photo" descr="Мечеть Кул-Шариф, Казань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83280" y="1371600"/>
            <a:ext cx="2606040" cy="2194560"/>
          </a:xfrm>
          <a:prstGeom prst="rect">
            <a:avLst/>
          </a:prstGeom>
        </p:spPr>
      </p:pic>
      <p:sp>
        <p:nvSpPr>
          <p:cNvPr id="10" name="Tradition 2 title"/>
          <p:cNvSpPr txBox="1"/>
          <p:nvPr/>
        </p:nvSpPr>
        <p:spPr>
          <a:xfrm>
            <a:off x="3566160" y="3675888"/>
            <a:ext cx="2240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tx2"/>
                </a:solidFill>
              </a:rPr>
              <a:t>Ислам</a:t>
            </a:r>
            <a:endParaRPr lang="en-US" sz="2000" dirty="0"/>
          </a:p>
        </p:txBody>
      </p:sp>
      <p:sp>
        <p:nvSpPr>
          <p:cNvPr id="11" name="Tradition 2 caption"/>
          <p:cNvSpPr txBox="1"/>
          <p:nvPr/>
        </p:nvSpPr>
        <p:spPr>
          <a:xfrm>
            <a:off x="3566160" y="4041648"/>
            <a:ext cx="2240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chemeClr val="accent6"/>
                </a:solidFill>
              </a:rPr>
              <a:t>Мечеть Кул-Шариф, Казань</a:t>
            </a:r>
            <a:endParaRPr lang="en-US" sz="1200" dirty="0"/>
          </a:p>
        </p:txBody>
      </p:sp>
      <p:sp>
        <p:nvSpPr>
          <p:cNvPr id="12" name="Tradition 2 text"/>
          <p:cNvSpPr txBox="1"/>
          <p:nvPr/>
        </p:nvSpPr>
        <p:spPr>
          <a:xfrm>
            <a:off x="3566160" y="4434840"/>
            <a:ext cx="22402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400" b="1" dirty="0">
                <a:solidFill>
                  <a:schemeClr val="tx2"/>
                </a:solidFill>
              </a:rPr>
              <a:t>Писание: </a:t>
            </a:r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Коран.</a:t>
            </a:r>
            <a:endParaRPr lang="en-US" sz="14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400" b="1" dirty="0">
                <a:solidFill>
                  <a:schemeClr val="tx2"/>
                </a:solidFill>
              </a:rPr>
              <a:t>Последователей: </a:t>
            </a:r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около 2 млрд.</a:t>
            </a:r>
            <a:endParaRPr lang="en-US" sz="14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400" b="1" dirty="0">
                <a:solidFill>
                  <a:schemeClr val="tx2"/>
                </a:solidFill>
              </a:rPr>
              <a:t>В России: </a:t>
            </a:r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Поволжье, Северный Кавказ.</a:t>
            </a:r>
            <a:endParaRPr lang="en-US" sz="1400" dirty="0"/>
          </a:p>
        </p:txBody>
      </p:sp>
      <p:sp>
        <p:nvSpPr>
          <p:cNvPr id="13" name="Tradition 3"/>
          <p:cNvSpPr/>
          <p:nvPr/>
        </p:nvSpPr>
        <p:spPr>
          <a:xfrm>
            <a:off x="6217920" y="1371600"/>
            <a:ext cx="2606040" cy="4663440"/>
          </a:xfrm>
          <a:prstGeom prst="rect">
            <a:avLst/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pic>
        <p:nvPicPr>
          <p:cNvPr id="14" name="Tradition 3 photo" descr="Иволгинский дацан, Бурятия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7920" y="1371600"/>
            <a:ext cx="2606040" cy="2194560"/>
          </a:xfrm>
          <a:prstGeom prst="rect">
            <a:avLst/>
          </a:prstGeom>
        </p:spPr>
      </p:pic>
      <p:sp>
        <p:nvSpPr>
          <p:cNvPr id="15" name="Tradition 3 title"/>
          <p:cNvSpPr txBox="1"/>
          <p:nvPr/>
        </p:nvSpPr>
        <p:spPr>
          <a:xfrm>
            <a:off x="6400800" y="3675888"/>
            <a:ext cx="2240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tx2"/>
                </a:solidFill>
              </a:rPr>
              <a:t>Буддизм</a:t>
            </a:r>
            <a:endParaRPr lang="en-US" sz="2000" dirty="0"/>
          </a:p>
        </p:txBody>
      </p:sp>
      <p:sp>
        <p:nvSpPr>
          <p:cNvPr id="16" name="Tradition 3 caption"/>
          <p:cNvSpPr txBox="1"/>
          <p:nvPr/>
        </p:nvSpPr>
        <p:spPr>
          <a:xfrm>
            <a:off x="6400800" y="4041648"/>
            <a:ext cx="2240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chemeClr val="accent6"/>
                </a:solidFill>
              </a:rPr>
              <a:t>Иволгинский дацан, Бурятия</a:t>
            </a:r>
            <a:endParaRPr lang="en-US" sz="1200" dirty="0"/>
          </a:p>
        </p:txBody>
      </p:sp>
      <p:sp>
        <p:nvSpPr>
          <p:cNvPr id="17" name="Tradition 3 text"/>
          <p:cNvSpPr txBox="1"/>
          <p:nvPr/>
        </p:nvSpPr>
        <p:spPr>
          <a:xfrm>
            <a:off x="6400800" y="4434840"/>
            <a:ext cx="22402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400" b="1" dirty="0">
                <a:solidFill>
                  <a:schemeClr val="tx2"/>
                </a:solidFill>
              </a:rPr>
              <a:t>Писания: </a:t>
            </a:r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Трипитака, Ганджур.</a:t>
            </a:r>
            <a:endParaRPr lang="en-US" sz="14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400" b="1" dirty="0">
                <a:solidFill>
                  <a:schemeClr val="tx2"/>
                </a:solidFill>
              </a:rPr>
              <a:t>Последователей: </a:t>
            </a:r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более 300 млн.</a:t>
            </a:r>
            <a:endParaRPr lang="en-US" sz="14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400" b="1" dirty="0">
                <a:solidFill>
                  <a:schemeClr val="tx2"/>
                </a:solidFill>
              </a:rPr>
              <a:t>В России: </a:t>
            </a:r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Бурятия, Калмыкия, Тыва.</a:t>
            </a:r>
            <a:endParaRPr lang="en-US" sz="1400" dirty="0"/>
          </a:p>
        </p:txBody>
      </p:sp>
      <p:sp>
        <p:nvSpPr>
          <p:cNvPr id="18" name="Tradition 4"/>
          <p:cNvSpPr/>
          <p:nvPr/>
        </p:nvSpPr>
        <p:spPr>
          <a:xfrm>
            <a:off x="9052560" y="1371600"/>
            <a:ext cx="2606040" cy="4663440"/>
          </a:xfrm>
          <a:prstGeom prst="rect">
            <a:avLst/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pic>
        <p:nvPicPr>
          <p:cNvPr id="19" name="Tradition 4 photo" descr="Хоральная синагога, Москва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052560" y="1371600"/>
            <a:ext cx="2606040" cy="2194560"/>
          </a:xfrm>
          <a:prstGeom prst="rect">
            <a:avLst/>
          </a:prstGeom>
        </p:spPr>
      </p:pic>
      <p:sp>
        <p:nvSpPr>
          <p:cNvPr id="20" name="Tradition 4 title"/>
          <p:cNvSpPr txBox="1"/>
          <p:nvPr/>
        </p:nvSpPr>
        <p:spPr>
          <a:xfrm>
            <a:off x="9235440" y="3675888"/>
            <a:ext cx="2240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tx2"/>
                </a:solidFill>
              </a:rPr>
              <a:t>Иудаизм</a:t>
            </a:r>
            <a:endParaRPr lang="en-US" sz="2000" dirty="0"/>
          </a:p>
        </p:txBody>
      </p:sp>
      <p:sp>
        <p:nvSpPr>
          <p:cNvPr id="21" name="Tradition 4 caption"/>
          <p:cNvSpPr txBox="1"/>
          <p:nvPr/>
        </p:nvSpPr>
        <p:spPr>
          <a:xfrm>
            <a:off x="9235440" y="4041648"/>
            <a:ext cx="2240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chemeClr val="accent6"/>
                </a:solidFill>
              </a:rPr>
              <a:t>Хоральная синагога, Москва</a:t>
            </a:r>
            <a:endParaRPr lang="en-US" sz="1200" dirty="0"/>
          </a:p>
        </p:txBody>
      </p:sp>
      <p:sp>
        <p:nvSpPr>
          <p:cNvPr id="22" name="Tradition 4 text"/>
          <p:cNvSpPr txBox="1"/>
          <p:nvPr/>
        </p:nvSpPr>
        <p:spPr>
          <a:xfrm>
            <a:off x="9235440" y="4434840"/>
            <a:ext cx="22402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400" b="1" dirty="0">
                <a:solidFill>
                  <a:schemeClr val="tx2"/>
                </a:solidFill>
              </a:rPr>
              <a:t>Писание: </a:t>
            </a:r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Тора (Танах).</a:t>
            </a:r>
            <a:endParaRPr lang="en-US" sz="14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400" b="1" dirty="0">
                <a:solidFill>
                  <a:schemeClr val="tx2"/>
                </a:solidFill>
              </a:rPr>
              <a:t>Последователей: </a:t>
            </a:r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около 15 млн.</a:t>
            </a:r>
            <a:endParaRPr lang="en-US" sz="14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Древнейшая из монотеистических религий.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373368"/>
            <a:ext cx="667512" cy="29260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5B6B61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2"/>
                </a:solidFill>
              </a:rPr>
              <a:t>Религия среди форм мировоззрения</a:t>
            </a:r>
            <a:endParaRPr lang="en-US" sz="3400" dirty="0"/>
          </a:p>
        </p:txBody>
      </p:sp>
      <p:sp>
        <p:nvSpPr>
          <p:cNvPr id="3" name="Header Форма"/>
          <p:cNvSpPr txBox="1"/>
          <p:nvPr/>
        </p:nvSpPr>
        <p:spPr>
          <a:xfrm>
            <a:off x="1371600" y="132588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chemeClr val="accent6"/>
                </a:solidFill>
              </a:rPr>
              <a:t>ФОРМА</a:t>
            </a:r>
            <a:endParaRPr lang="en-US" sz="1200" dirty="0"/>
          </a:p>
        </p:txBody>
      </p:sp>
      <p:sp>
        <p:nvSpPr>
          <p:cNvPr id="4" name="Header На что опирается"/>
          <p:cNvSpPr txBox="1"/>
          <p:nvPr/>
        </p:nvSpPr>
        <p:spPr>
          <a:xfrm>
            <a:off x="3749040" y="132588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chemeClr val="accent6"/>
                </a:solidFill>
              </a:rPr>
              <a:t>НА ЧТО ОПИРАЕТСЯ</a:t>
            </a:r>
            <a:endParaRPr lang="en-US" sz="1200" dirty="0"/>
          </a:p>
        </p:txBody>
      </p:sp>
      <p:sp>
        <p:nvSpPr>
          <p:cNvPr id="5" name="Header Как объясняет мир"/>
          <p:cNvSpPr txBox="1"/>
          <p:nvPr/>
        </p:nvSpPr>
        <p:spPr>
          <a:xfrm>
            <a:off x="7498080" y="132588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chemeClr val="accent6"/>
                </a:solidFill>
              </a:rPr>
              <a:t>КАК ОБЪЯСНЯЕТ МИР</a:t>
            </a:r>
            <a:endParaRPr lang="en-US" sz="1200" dirty="0"/>
          </a:p>
        </p:txBody>
      </p:sp>
      <p:sp>
        <p:nvSpPr>
          <p:cNvPr id="6" name="Row 1"/>
          <p:cNvSpPr/>
          <p:nvPr/>
        </p:nvSpPr>
        <p:spPr>
          <a:xfrm>
            <a:off x="548640" y="1691640"/>
            <a:ext cx="11091672" cy="914400"/>
          </a:xfrm>
          <a:prstGeom prst="rect">
            <a:avLst/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7" name="Form 1 badge"/>
          <p:cNvSpPr/>
          <p:nvPr/>
        </p:nvSpPr>
        <p:spPr>
          <a:xfrm>
            <a:off x="685800" y="1847088"/>
            <a:ext cx="603504" cy="603504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8" name="Form 1 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36676" y="1997964"/>
            <a:ext cx="301752" cy="301752"/>
          </a:xfrm>
          <a:prstGeom prst="rect">
            <a:avLst/>
          </a:prstGeom>
        </p:spPr>
      </p:pic>
      <p:sp>
        <p:nvSpPr>
          <p:cNvPr id="9" name="Form 1 name"/>
          <p:cNvSpPr txBox="1"/>
          <p:nvPr/>
        </p:nvSpPr>
        <p:spPr>
          <a:xfrm>
            <a:off x="1417320" y="1691640"/>
            <a:ext cx="21945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Мифологическое</a:t>
            </a:r>
            <a:endParaRPr lang="en-US" sz="1800" dirty="0"/>
          </a:p>
        </p:txBody>
      </p:sp>
      <p:sp>
        <p:nvSpPr>
          <p:cNvPr id="10" name="Form 1 basis"/>
          <p:cNvSpPr txBox="1"/>
          <p:nvPr/>
        </p:nvSpPr>
        <p:spPr>
          <a:xfrm>
            <a:off x="3749040" y="1691640"/>
            <a:ext cx="3474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Образы, предания, фантазия; человек и природа слиты воедино</a:t>
            </a:r>
            <a:endParaRPr lang="en-US" sz="1400" dirty="0"/>
          </a:p>
        </p:txBody>
      </p:sp>
      <p:sp>
        <p:nvSpPr>
          <p:cNvPr id="11" name="Form 1 explanation"/>
          <p:cNvSpPr txBox="1"/>
          <p:nvPr/>
        </p:nvSpPr>
        <p:spPr>
          <a:xfrm>
            <a:off x="7498080" y="1691640"/>
            <a:ext cx="39776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Мир — результат деяний богов и героев; события объясняются сказаниями</a:t>
            </a:r>
            <a:endParaRPr lang="en-US" sz="1400" dirty="0"/>
          </a:p>
        </p:txBody>
      </p:sp>
      <p:sp>
        <p:nvSpPr>
          <p:cNvPr id="12" name="Row 2"/>
          <p:cNvSpPr/>
          <p:nvPr/>
        </p:nvSpPr>
        <p:spPr>
          <a:xfrm>
            <a:off x="548640" y="2715768"/>
            <a:ext cx="11091672" cy="914400"/>
          </a:xfrm>
          <a:prstGeom prst="rect">
            <a:avLst/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13" name="Form 2 badge"/>
          <p:cNvSpPr/>
          <p:nvPr/>
        </p:nvSpPr>
        <p:spPr>
          <a:xfrm>
            <a:off x="685800" y="2871216"/>
            <a:ext cx="603504" cy="603504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pic>
        <p:nvPicPr>
          <p:cNvPr id="14" name="Form 2 icon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6676" y="3022092"/>
            <a:ext cx="301752" cy="301752"/>
          </a:xfrm>
          <a:prstGeom prst="rect">
            <a:avLst/>
          </a:prstGeom>
        </p:spPr>
      </p:pic>
      <p:sp>
        <p:nvSpPr>
          <p:cNvPr id="15" name="Form 2 name"/>
          <p:cNvSpPr txBox="1"/>
          <p:nvPr/>
        </p:nvSpPr>
        <p:spPr>
          <a:xfrm>
            <a:off x="1417320" y="2715768"/>
            <a:ext cx="21945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Религиозное</a:t>
            </a:r>
            <a:endParaRPr lang="en-US" sz="1800" dirty="0"/>
          </a:p>
        </p:txBody>
      </p:sp>
      <p:sp>
        <p:nvSpPr>
          <p:cNvPr id="16" name="Form 2 basis"/>
          <p:cNvSpPr txBox="1"/>
          <p:nvPr/>
        </p:nvSpPr>
        <p:spPr>
          <a:xfrm>
            <a:off x="3749040" y="2715768"/>
            <a:ext cx="3474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bg1"/>
                </a:solidFill>
              </a:rPr>
              <a:t>Вера, откровение, священные тексты и обряды</a:t>
            </a:r>
            <a:endParaRPr lang="en-US" sz="1400" dirty="0"/>
          </a:p>
        </p:txBody>
      </p:sp>
      <p:sp>
        <p:nvSpPr>
          <p:cNvPr id="17" name="Form 2 explanation"/>
          <p:cNvSpPr txBox="1"/>
          <p:nvPr/>
        </p:nvSpPr>
        <p:spPr>
          <a:xfrm>
            <a:off x="7498080" y="2715768"/>
            <a:ext cx="39776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bg1"/>
                </a:solidFill>
              </a:rPr>
              <a:t>Мир сотворён высшей силой; человек ответственен перед Богом и стремится к спасению</a:t>
            </a:r>
            <a:endParaRPr lang="en-US" sz="1400" dirty="0"/>
          </a:p>
        </p:txBody>
      </p:sp>
      <p:sp>
        <p:nvSpPr>
          <p:cNvPr id="18" name="Row 3"/>
          <p:cNvSpPr/>
          <p:nvPr/>
        </p:nvSpPr>
        <p:spPr>
          <a:xfrm>
            <a:off x="548640" y="3739896"/>
            <a:ext cx="11091672" cy="914400"/>
          </a:xfrm>
          <a:prstGeom prst="rect">
            <a:avLst/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9" name="Form 3 badge"/>
          <p:cNvSpPr/>
          <p:nvPr/>
        </p:nvSpPr>
        <p:spPr>
          <a:xfrm>
            <a:off x="685800" y="3895344"/>
            <a:ext cx="603504" cy="603504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20" name="Form 3 icon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6676" y="4046220"/>
            <a:ext cx="301752" cy="301752"/>
          </a:xfrm>
          <a:prstGeom prst="rect">
            <a:avLst/>
          </a:prstGeom>
        </p:spPr>
      </p:pic>
      <p:sp>
        <p:nvSpPr>
          <p:cNvPr id="21" name="Form 3 name"/>
          <p:cNvSpPr txBox="1"/>
          <p:nvPr/>
        </p:nvSpPr>
        <p:spPr>
          <a:xfrm>
            <a:off x="1417320" y="3739896"/>
            <a:ext cx="21945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Философское</a:t>
            </a:r>
            <a:endParaRPr lang="en-US" sz="1800" dirty="0"/>
          </a:p>
        </p:txBody>
      </p:sp>
      <p:sp>
        <p:nvSpPr>
          <p:cNvPr id="22" name="Form 3 basis"/>
          <p:cNvSpPr txBox="1"/>
          <p:nvPr/>
        </p:nvSpPr>
        <p:spPr>
          <a:xfrm>
            <a:off x="3749040" y="3739896"/>
            <a:ext cx="3474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Разум, логика, критическая рефлексия</a:t>
            </a:r>
            <a:endParaRPr lang="en-US" sz="1400" dirty="0"/>
          </a:p>
        </p:txBody>
      </p:sp>
      <p:sp>
        <p:nvSpPr>
          <p:cNvPr id="23" name="Form 3 explanation"/>
          <p:cNvSpPr txBox="1"/>
          <p:nvPr/>
        </p:nvSpPr>
        <p:spPr>
          <a:xfrm>
            <a:off x="7498080" y="3739896"/>
            <a:ext cx="39776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Мир познаётся через понятия и аргументы; поиск первоначал, смысла и истины</a:t>
            </a:r>
            <a:endParaRPr lang="en-US" sz="1400" dirty="0"/>
          </a:p>
        </p:txBody>
      </p:sp>
      <p:sp>
        <p:nvSpPr>
          <p:cNvPr id="24" name="Row 4"/>
          <p:cNvSpPr/>
          <p:nvPr/>
        </p:nvSpPr>
        <p:spPr>
          <a:xfrm>
            <a:off x="548640" y="4764024"/>
            <a:ext cx="11091672" cy="914400"/>
          </a:xfrm>
          <a:prstGeom prst="rect">
            <a:avLst/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5" name="Form 4 badge"/>
          <p:cNvSpPr/>
          <p:nvPr/>
        </p:nvSpPr>
        <p:spPr>
          <a:xfrm>
            <a:off x="685800" y="4919472"/>
            <a:ext cx="603504" cy="603504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26" name="Form 4 icon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6676" y="5070348"/>
            <a:ext cx="301752" cy="301752"/>
          </a:xfrm>
          <a:prstGeom prst="rect">
            <a:avLst/>
          </a:prstGeom>
        </p:spPr>
      </p:pic>
      <p:sp>
        <p:nvSpPr>
          <p:cNvPr id="27" name="Form 4 name"/>
          <p:cNvSpPr txBox="1"/>
          <p:nvPr/>
        </p:nvSpPr>
        <p:spPr>
          <a:xfrm>
            <a:off x="1417320" y="4764024"/>
            <a:ext cx="21945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Естественно-научное</a:t>
            </a:r>
            <a:endParaRPr lang="en-US" sz="1800" dirty="0"/>
          </a:p>
        </p:txBody>
      </p:sp>
      <p:sp>
        <p:nvSpPr>
          <p:cNvPr id="28" name="Form 4 basis"/>
          <p:cNvSpPr txBox="1"/>
          <p:nvPr/>
        </p:nvSpPr>
        <p:spPr>
          <a:xfrm>
            <a:off x="3749040" y="4764024"/>
            <a:ext cx="3474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Наблюдение, эксперимент, проверяемые доказательства</a:t>
            </a:r>
            <a:endParaRPr lang="en-US" sz="1400" dirty="0"/>
          </a:p>
        </p:txBody>
      </p:sp>
      <p:sp>
        <p:nvSpPr>
          <p:cNvPr id="29" name="Form 4 explanation"/>
          <p:cNvSpPr txBox="1"/>
          <p:nvPr/>
        </p:nvSpPr>
        <p:spPr>
          <a:xfrm>
            <a:off x="7498080" y="4764024"/>
            <a:ext cx="39776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Мир подчиняется законам природы, которые можно открыть и проверить</a:t>
            </a:r>
            <a:endParaRPr lang="en-US" sz="1400" dirty="0"/>
          </a:p>
        </p:txBody>
      </p:sp>
      <p:sp>
        <p:nvSpPr>
          <p:cNvPr id="30" name="Takeaway"/>
          <p:cNvSpPr txBox="1"/>
          <p:nvPr/>
        </p:nvSpPr>
        <p:spPr>
          <a:xfrm>
            <a:off x="548640" y="5833872"/>
            <a:ext cx="110916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chemeClr val="accent6"/>
                </a:solidFill>
              </a:rPr>
              <a:t>Формы не отменяют друг друга: в современном сознании они сосуществуют и дополняют друг друга.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373368"/>
            <a:ext cx="667512" cy="29260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5B6B61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2"/>
                </a:solidFill>
              </a:rPr>
              <a:t>Функции религии</a:t>
            </a:r>
            <a:endParaRPr lang="en-US" sz="3400" dirty="0"/>
          </a:p>
        </p:txBody>
      </p:sp>
      <p:pic>
        <p:nvPicPr>
          <p:cNvPr id="3" name="Photo lavra" descr="Троице-Сергиева лавра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371600"/>
            <a:ext cx="3566160" cy="4572000"/>
          </a:xfrm>
          <a:prstGeom prst="rect">
            <a:avLst/>
          </a:prstGeom>
        </p:spPr>
      </p:pic>
      <p:sp>
        <p:nvSpPr>
          <p:cNvPr id="4" name="Function 1"/>
          <p:cNvSpPr/>
          <p:nvPr/>
        </p:nvSpPr>
        <p:spPr>
          <a:xfrm>
            <a:off x="4389120" y="1371600"/>
            <a:ext cx="3566160" cy="1417320"/>
          </a:xfrm>
          <a:prstGeom prst="rect">
            <a:avLst/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5" name="Function 1 badge"/>
          <p:cNvSpPr/>
          <p:nvPr/>
        </p:nvSpPr>
        <p:spPr>
          <a:xfrm>
            <a:off x="4572000" y="1783080"/>
            <a:ext cx="594360" cy="59436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6" name="Function 1 icon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20590" y="1931670"/>
            <a:ext cx="297180" cy="297180"/>
          </a:xfrm>
          <a:prstGeom prst="rect">
            <a:avLst/>
          </a:prstGeom>
        </p:spPr>
      </p:pic>
      <p:sp>
        <p:nvSpPr>
          <p:cNvPr id="7" name="Function 1 text"/>
          <p:cNvSpPr txBox="1"/>
          <p:nvPr/>
        </p:nvSpPr>
        <p:spPr>
          <a:xfrm>
            <a:off x="5349240" y="1463040"/>
            <a:ext cx="246888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Мировоззренческая</a:t>
            </a:r>
            <a:endParaRPr lang="en-US" sz="1600" dirty="0"/>
          </a:p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Объясняет мир и место человека в нём, даёт смысл жизни.</a:t>
            </a:r>
            <a:endParaRPr lang="en-US" sz="1600" dirty="0"/>
          </a:p>
        </p:txBody>
      </p:sp>
      <p:sp>
        <p:nvSpPr>
          <p:cNvPr id="8" name="Function 2"/>
          <p:cNvSpPr/>
          <p:nvPr/>
        </p:nvSpPr>
        <p:spPr>
          <a:xfrm>
            <a:off x="8074152" y="1371600"/>
            <a:ext cx="3566160" cy="1417320"/>
          </a:xfrm>
          <a:prstGeom prst="rect">
            <a:avLst/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9" name="Function 2 badge"/>
          <p:cNvSpPr/>
          <p:nvPr/>
        </p:nvSpPr>
        <p:spPr>
          <a:xfrm>
            <a:off x="8257032" y="1783080"/>
            <a:ext cx="594360" cy="59436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10" name="Function 2 icon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05622" y="1931670"/>
            <a:ext cx="297180" cy="297180"/>
          </a:xfrm>
          <a:prstGeom prst="rect">
            <a:avLst/>
          </a:prstGeom>
        </p:spPr>
      </p:pic>
      <p:sp>
        <p:nvSpPr>
          <p:cNvPr id="11" name="Function 2 text"/>
          <p:cNvSpPr txBox="1"/>
          <p:nvPr/>
        </p:nvSpPr>
        <p:spPr>
          <a:xfrm>
            <a:off x="9034272" y="1463040"/>
            <a:ext cx="246888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Регулятивная</a:t>
            </a:r>
            <a:endParaRPr lang="en-US" sz="1600" dirty="0"/>
          </a:p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Задаёт нравственные нормы: заповеди, запреты, образцы поведения.</a:t>
            </a:r>
            <a:endParaRPr lang="en-US" sz="1600" dirty="0"/>
          </a:p>
        </p:txBody>
      </p:sp>
      <p:sp>
        <p:nvSpPr>
          <p:cNvPr id="12" name="Function 3"/>
          <p:cNvSpPr/>
          <p:nvPr/>
        </p:nvSpPr>
        <p:spPr>
          <a:xfrm>
            <a:off x="4389120" y="2971800"/>
            <a:ext cx="3566160" cy="1417320"/>
          </a:xfrm>
          <a:prstGeom prst="rect">
            <a:avLst/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3" name="Function 3 badge"/>
          <p:cNvSpPr/>
          <p:nvPr/>
        </p:nvSpPr>
        <p:spPr>
          <a:xfrm>
            <a:off x="4572000" y="3383280"/>
            <a:ext cx="594360" cy="59436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14" name="Function 3 icon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20590" y="3531870"/>
            <a:ext cx="297180" cy="297180"/>
          </a:xfrm>
          <a:prstGeom prst="rect">
            <a:avLst/>
          </a:prstGeom>
        </p:spPr>
      </p:pic>
      <p:sp>
        <p:nvSpPr>
          <p:cNvPr id="15" name="Function 3 text"/>
          <p:cNvSpPr txBox="1"/>
          <p:nvPr/>
        </p:nvSpPr>
        <p:spPr>
          <a:xfrm>
            <a:off x="5349240" y="3063240"/>
            <a:ext cx="246888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Интегративная</a:t>
            </a:r>
            <a:endParaRPr lang="en-US" sz="1600" dirty="0"/>
          </a:p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Объединяет людей в общину, укрепляет единство общества.</a:t>
            </a:r>
            <a:endParaRPr lang="en-US" sz="1600" dirty="0"/>
          </a:p>
        </p:txBody>
      </p:sp>
      <p:sp>
        <p:nvSpPr>
          <p:cNvPr id="16" name="Function 4"/>
          <p:cNvSpPr/>
          <p:nvPr/>
        </p:nvSpPr>
        <p:spPr>
          <a:xfrm>
            <a:off x="8074152" y="2971800"/>
            <a:ext cx="3566160" cy="1417320"/>
          </a:xfrm>
          <a:prstGeom prst="rect">
            <a:avLst/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7" name="Function 4 badge"/>
          <p:cNvSpPr/>
          <p:nvPr/>
        </p:nvSpPr>
        <p:spPr>
          <a:xfrm>
            <a:off x="8257032" y="3383280"/>
            <a:ext cx="594360" cy="59436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18" name="Function 4 icon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405622" y="3531870"/>
            <a:ext cx="297180" cy="297180"/>
          </a:xfrm>
          <a:prstGeom prst="rect">
            <a:avLst/>
          </a:prstGeom>
        </p:spPr>
      </p:pic>
      <p:sp>
        <p:nvSpPr>
          <p:cNvPr id="19" name="Function 4 text"/>
          <p:cNvSpPr txBox="1"/>
          <p:nvPr/>
        </p:nvSpPr>
        <p:spPr>
          <a:xfrm>
            <a:off x="9034272" y="3063240"/>
            <a:ext cx="246888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Компенсаторная</a:t>
            </a:r>
            <a:endParaRPr lang="en-US" sz="1600" dirty="0"/>
          </a:p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Утешает, помогает пережить утрату, страх и страдание.</a:t>
            </a:r>
            <a:endParaRPr lang="en-US" sz="1600" dirty="0"/>
          </a:p>
        </p:txBody>
      </p:sp>
      <p:sp>
        <p:nvSpPr>
          <p:cNvPr id="20" name="Function 5"/>
          <p:cNvSpPr/>
          <p:nvPr/>
        </p:nvSpPr>
        <p:spPr>
          <a:xfrm>
            <a:off x="4389120" y="4572000"/>
            <a:ext cx="3566160" cy="1417320"/>
          </a:xfrm>
          <a:prstGeom prst="rect">
            <a:avLst/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1" name="Function 5 badge"/>
          <p:cNvSpPr/>
          <p:nvPr/>
        </p:nvSpPr>
        <p:spPr>
          <a:xfrm>
            <a:off x="4572000" y="4983480"/>
            <a:ext cx="594360" cy="59436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22" name="Function 5 icon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720590" y="5132070"/>
            <a:ext cx="297180" cy="297180"/>
          </a:xfrm>
          <a:prstGeom prst="rect">
            <a:avLst/>
          </a:prstGeom>
        </p:spPr>
      </p:pic>
      <p:sp>
        <p:nvSpPr>
          <p:cNvPr id="23" name="Function 5 text"/>
          <p:cNvSpPr txBox="1"/>
          <p:nvPr/>
        </p:nvSpPr>
        <p:spPr>
          <a:xfrm>
            <a:off x="5349240" y="4663440"/>
            <a:ext cx="246888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Культурная</a:t>
            </a:r>
            <a:endParaRPr lang="en-US" sz="1600" dirty="0"/>
          </a:p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Сохраняет и передаёт традиции, искусство, язык, праздники.</a:t>
            </a:r>
            <a:endParaRPr lang="en-US" sz="1600" dirty="0"/>
          </a:p>
        </p:txBody>
      </p:sp>
      <p:sp>
        <p:nvSpPr>
          <p:cNvPr id="24" name="Function 6"/>
          <p:cNvSpPr/>
          <p:nvPr/>
        </p:nvSpPr>
        <p:spPr>
          <a:xfrm>
            <a:off x="8074152" y="4572000"/>
            <a:ext cx="3566160" cy="1417320"/>
          </a:xfrm>
          <a:prstGeom prst="rect">
            <a:avLst/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5" name="Function 6 badge"/>
          <p:cNvSpPr/>
          <p:nvPr/>
        </p:nvSpPr>
        <p:spPr>
          <a:xfrm>
            <a:off x="8257032" y="4983480"/>
            <a:ext cx="594360" cy="59436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26" name="Function 6 icon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405622" y="5132070"/>
            <a:ext cx="297180" cy="297180"/>
          </a:xfrm>
          <a:prstGeom prst="rect">
            <a:avLst/>
          </a:prstGeom>
        </p:spPr>
      </p:pic>
      <p:sp>
        <p:nvSpPr>
          <p:cNvPr id="27" name="Function 6 text"/>
          <p:cNvSpPr txBox="1"/>
          <p:nvPr/>
        </p:nvSpPr>
        <p:spPr>
          <a:xfrm>
            <a:off x="9034272" y="4663440"/>
            <a:ext cx="246888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Коммуникативная</a:t>
            </a:r>
            <a:endParaRPr lang="en-US" sz="1600" dirty="0"/>
          </a:p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Общение верующих между собой и с Богом: молитва, богослужение.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373368"/>
            <a:ext cx="667512" cy="29260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5B6B61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2"/>
                </a:solidFill>
              </a:rPr>
              <a:t>Религия и российское государство</a:t>
            </a:r>
            <a:endParaRPr lang="en-US" sz="3400" dirty="0"/>
          </a:p>
        </p:txBody>
      </p:sp>
      <p:pic>
        <p:nvPicPr>
          <p:cNvPr id="3" name="Photo mosque" descr="Московская соборная мечеть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371600"/>
            <a:ext cx="3840480" cy="4572000"/>
          </a:xfrm>
          <a:prstGeom prst="rect">
            <a:avLst/>
          </a:prstGeom>
        </p:spPr>
      </p:pic>
      <p:sp>
        <p:nvSpPr>
          <p:cNvPr id="4" name="Photo caption"/>
          <p:cNvSpPr txBox="1"/>
          <p:nvPr/>
        </p:nvSpPr>
        <p:spPr>
          <a:xfrm>
            <a:off x="548640" y="594360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chemeClr val="accent6"/>
                </a:solidFill>
              </a:rPr>
              <a:t>Московская соборная мечеть</a:t>
            </a:r>
            <a:endParaRPr lang="en-US" sz="1100" dirty="0"/>
          </a:p>
        </p:txBody>
      </p:sp>
      <p:sp>
        <p:nvSpPr>
          <p:cNvPr id="5" name="Law card 1"/>
          <p:cNvSpPr/>
          <p:nvPr/>
        </p:nvSpPr>
        <p:spPr>
          <a:xfrm>
            <a:off x="4663440" y="1371600"/>
            <a:ext cx="6976872" cy="1234440"/>
          </a:xfrm>
          <a:prstGeom prst="rect">
            <a:avLst/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6" name="Law 1 badge"/>
          <p:cNvSpPr/>
          <p:nvPr/>
        </p:nvSpPr>
        <p:spPr>
          <a:xfrm>
            <a:off x="4846320" y="1691640"/>
            <a:ext cx="594360" cy="59436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7" name="Law 1 icon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94910" y="1840230"/>
            <a:ext cx="297180" cy="297180"/>
          </a:xfrm>
          <a:prstGeom prst="rect">
            <a:avLst/>
          </a:prstGeom>
        </p:spPr>
      </p:pic>
      <p:sp>
        <p:nvSpPr>
          <p:cNvPr id="8" name="Law 1 text"/>
          <p:cNvSpPr txBox="1"/>
          <p:nvPr/>
        </p:nvSpPr>
        <p:spPr>
          <a:xfrm>
            <a:off x="5669280" y="1435608"/>
            <a:ext cx="5852160" cy="11064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Светское государство (ст. 14 Конституции РФ)</a:t>
            </a:r>
            <a:endParaRPr lang="en-US" sz="1600" dirty="0"/>
          </a:p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Никакая религия не может устанавливаться в качестве государственной или обязательной; религиозные объединения отделены от государства.</a:t>
            </a:r>
            <a:endParaRPr lang="en-US" sz="1600" dirty="0"/>
          </a:p>
        </p:txBody>
      </p:sp>
      <p:sp>
        <p:nvSpPr>
          <p:cNvPr id="9" name="Law card 2"/>
          <p:cNvSpPr/>
          <p:nvPr/>
        </p:nvSpPr>
        <p:spPr>
          <a:xfrm>
            <a:off x="4663440" y="2743200"/>
            <a:ext cx="6976872" cy="1234440"/>
          </a:xfrm>
          <a:prstGeom prst="rect">
            <a:avLst/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0" name="Law 2 badge"/>
          <p:cNvSpPr/>
          <p:nvPr/>
        </p:nvSpPr>
        <p:spPr>
          <a:xfrm>
            <a:off x="4846320" y="3063240"/>
            <a:ext cx="594360" cy="59436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11" name="Law 2 icon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94910" y="3211830"/>
            <a:ext cx="297180" cy="297180"/>
          </a:xfrm>
          <a:prstGeom prst="rect">
            <a:avLst/>
          </a:prstGeom>
        </p:spPr>
      </p:pic>
      <p:sp>
        <p:nvSpPr>
          <p:cNvPr id="12" name="Law 2 text"/>
          <p:cNvSpPr txBox="1"/>
          <p:nvPr/>
        </p:nvSpPr>
        <p:spPr>
          <a:xfrm>
            <a:off x="5669280" y="2807208"/>
            <a:ext cx="5852160" cy="11064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Свобода совести (ст. 28 Конституции РФ)</a:t>
            </a:r>
            <a:endParaRPr lang="en-US" sz="1600" dirty="0"/>
          </a:p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Каждому гарантируется право исповедовать любую религию или не исповедовать никакой, свободно выбирать и менять убеждения.</a:t>
            </a:r>
            <a:endParaRPr lang="en-US" sz="1600" dirty="0"/>
          </a:p>
        </p:txBody>
      </p:sp>
      <p:sp>
        <p:nvSpPr>
          <p:cNvPr id="13" name="Law card 3"/>
          <p:cNvSpPr/>
          <p:nvPr/>
        </p:nvSpPr>
        <p:spPr>
          <a:xfrm>
            <a:off x="4663440" y="4114800"/>
            <a:ext cx="6976872" cy="1234440"/>
          </a:xfrm>
          <a:prstGeom prst="rect">
            <a:avLst/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4" name="Law 3 badge"/>
          <p:cNvSpPr/>
          <p:nvPr/>
        </p:nvSpPr>
        <p:spPr>
          <a:xfrm>
            <a:off x="4846320" y="4434840"/>
            <a:ext cx="594360" cy="59436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15" name="Law 3 icon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94910" y="4583430"/>
            <a:ext cx="297180" cy="297180"/>
          </a:xfrm>
          <a:prstGeom prst="rect">
            <a:avLst/>
          </a:prstGeom>
        </p:spPr>
      </p:pic>
      <p:sp>
        <p:nvSpPr>
          <p:cNvPr id="16" name="Law 3 text"/>
          <p:cNvSpPr txBox="1"/>
          <p:nvPr/>
        </p:nvSpPr>
        <p:spPr>
          <a:xfrm>
            <a:off x="5669280" y="4178808"/>
            <a:ext cx="5852160" cy="11064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Федеральный закон № 125-ФЗ (1997)</a:t>
            </a:r>
            <a:endParaRPr lang="en-US" sz="1600" dirty="0"/>
          </a:p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Признаёт особую роль православия в истории и культуре России и уважает христианство, ислам, буддизм, иудаизм и другие религии как часть исторического наследия народов России.</a:t>
            </a:r>
            <a:endParaRPr lang="en-US" sz="1600" dirty="0"/>
          </a:p>
        </p:txBody>
      </p:sp>
      <p:sp>
        <p:nvSpPr>
          <p:cNvPr id="17" name="Chip Православие"/>
          <p:cNvSpPr/>
          <p:nvPr/>
        </p:nvSpPr>
        <p:spPr>
          <a:xfrm>
            <a:off x="4663440" y="5532120"/>
            <a:ext cx="1645920" cy="457200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8" name="Chip Православие label"/>
          <p:cNvSpPr txBox="1"/>
          <p:nvPr/>
        </p:nvSpPr>
        <p:spPr>
          <a:xfrm>
            <a:off x="4663440" y="5532120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Православие</a:t>
            </a:r>
            <a:endParaRPr lang="en-US" sz="1400" dirty="0"/>
          </a:p>
        </p:txBody>
      </p:sp>
      <p:sp>
        <p:nvSpPr>
          <p:cNvPr id="19" name="Chip Ислам"/>
          <p:cNvSpPr/>
          <p:nvPr/>
        </p:nvSpPr>
        <p:spPr>
          <a:xfrm>
            <a:off x="6428232" y="5532120"/>
            <a:ext cx="1645920" cy="457200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20" name="Chip Ислам label"/>
          <p:cNvSpPr txBox="1"/>
          <p:nvPr/>
        </p:nvSpPr>
        <p:spPr>
          <a:xfrm>
            <a:off x="6428232" y="5532120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Ислам</a:t>
            </a:r>
            <a:endParaRPr lang="en-US" sz="1400" dirty="0"/>
          </a:p>
        </p:txBody>
      </p:sp>
      <p:sp>
        <p:nvSpPr>
          <p:cNvPr id="21" name="Chip Буддизм"/>
          <p:cNvSpPr/>
          <p:nvPr/>
        </p:nvSpPr>
        <p:spPr>
          <a:xfrm>
            <a:off x="8193024" y="5532120"/>
            <a:ext cx="1645920" cy="457200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22" name="Chip Буддизм label"/>
          <p:cNvSpPr txBox="1"/>
          <p:nvPr/>
        </p:nvSpPr>
        <p:spPr>
          <a:xfrm>
            <a:off x="8193024" y="5532120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Буддизм</a:t>
            </a:r>
            <a:endParaRPr lang="en-US" sz="1400" dirty="0"/>
          </a:p>
        </p:txBody>
      </p:sp>
      <p:sp>
        <p:nvSpPr>
          <p:cNvPr id="23" name="Chip Иудаизм"/>
          <p:cNvSpPr/>
          <p:nvPr/>
        </p:nvSpPr>
        <p:spPr>
          <a:xfrm>
            <a:off x="9957816" y="5532120"/>
            <a:ext cx="1645920" cy="457200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24" name="Chip Иудаизм label"/>
          <p:cNvSpPr txBox="1"/>
          <p:nvPr/>
        </p:nvSpPr>
        <p:spPr>
          <a:xfrm>
            <a:off x="9957816" y="5532120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Иудаизм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373368"/>
            <a:ext cx="667512" cy="29260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5B6B61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2"/>
                </a:solidFill>
              </a:rPr>
              <a:t>Религия, культура и идентичность</a:t>
            </a:r>
            <a:endParaRPr lang="en-US" sz="3400" dirty="0"/>
          </a:p>
        </p:txBody>
      </p:sp>
      <p:pic>
        <p:nvPicPr>
          <p:cNvPr id="3" name="Photo Kizhi" descr="Кижский погост, Карелия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371600"/>
            <a:ext cx="3931920" cy="2194560"/>
          </a:xfrm>
          <a:prstGeom prst="rect">
            <a:avLst/>
          </a:prstGeom>
        </p:spPr>
      </p:pic>
      <p:pic>
        <p:nvPicPr>
          <p:cNvPr id="4" name="Photo Rublev" descr="Икона «Троица» Андрея Рублёва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3703320"/>
            <a:ext cx="3931920" cy="2240280"/>
          </a:xfrm>
          <a:prstGeom prst="rect">
            <a:avLst/>
          </a:prstGeom>
        </p:spPr>
      </p:pic>
      <p:sp>
        <p:nvSpPr>
          <p:cNvPr id="5" name="Concept 1"/>
          <p:cNvSpPr/>
          <p:nvPr/>
        </p:nvSpPr>
        <p:spPr>
          <a:xfrm>
            <a:off x="4754880" y="1371600"/>
            <a:ext cx="3383280" cy="1417320"/>
          </a:xfrm>
          <a:prstGeom prst="rect">
            <a:avLst/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6" name="Concept 1 badge"/>
          <p:cNvSpPr/>
          <p:nvPr/>
        </p:nvSpPr>
        <p:spPr>
          <a:xfrm>
            <a:off x="4919472" y="1783080"/>
            <a:ext cx="566928" cy="56692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7" name="Concept 1 icon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61204" y="1924812"/>
            <a:ext cx="283464" cy="283464"/>
          </a:xfrm>
          <a:prstGeom prst="rect">
            <a:avLst/>
          </a:prstGeom>
        </p:spPr>
      </p:pic>
      <p:sp>
        <p:nvSpPr>
          <p:cNvPr id="8" name="Concept 1 text"/>
          <p:cNvSpPr txBox="1"/>
          <p:nvPr/>
        </p:nvSpPr>
        <p:spPr>
          <a:xfrm>
            <a:off x="5650992" y="1463040"/>
            <a:ext cx="2359152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Культура</a:t>
            </a:r>
            <a:endParaRPr lang="en-US" sz="1600" dirty="0"/>
          </a:p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Религия формирует ценности, искусство, календарь и обычаи.</a:t>
            </a:r>
            <a:endParaRPr lang="en-US" sz="1600" dirty="0"/>
          </a:p>
        </p:txBody>
      </p:sp>
      <p:sp>
        <p:nvSpPr>
          <p:cNvPr id="9" name="Concept 2"/>
          <p:cNvSpPr/>
          <p:nvPr/>
        </p:nvSpPr>
        <p:spPr>
          <a:xfrm>
            <a:off x="8247888" y="1371600"/>
            <a:ext cx="3383280" cy="1417320"/>
          </a:xfrm>
          <a:prstGeom prst="rect">
            <a:avLst/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0" name="Concept 2 badge"/>
          <p:cNvSpPr/>
          <p:nvPr/>
        </p:nvSpPr>
        <p:spPr>
          <a:xfrm>
            <a:off x="8412480" y="1783080"/>
            <a:ext cx="566928" cy="56692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11" name="Concept 2 icon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54212" y="1924812"/>
            <a:ext cx="283464" cy="283464"/>
          </a:xfrm>
          <a:prstGeom prst="rect">
            <a:avLst/>
          </a:prstGeom>
        </p:spPr>
      </p:pic>
      <p:sp>
        <p:nvSpPr>
          <p:cNvPr id="12" name="Concept 2 text"/>
          <p:cNvSpPr txBox="1"/>
          <p:nvPr/>
        </p:nvSpPr>
        <p:spPr>
          <a:xfrm>
            <a:off x="9144000" y="1463040"/>
            <a:ext cx="2359152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Культурный код</a:t>
            </a:r>
            <a:endParaRPr lang="en-US" sz="1600" dirty="0"/>
          </a:p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Символы и образы — храм, икона, праздник, понятные «своим».</a:t>
            </a:r>
            <a:endParaRPr lang="en-US" sz="1600" dirty="0"/>
          </a:p>
        </p:txBody>
      </p:sp>
      <p:sp>
        <p:nvSpPr>
          <p:cNvPr id="13" name="Concept 3"/>
          <p:cNvSpPr/>
          <p:nvPr/>
        </p:nvSpPr>
        <p:spPr>
          <a:xfrm>
            <a:off x="4754880" y="2971800"/>
            <a:ext cx="3383280" cy="1417320"/>
          </a:xfrm>
          <a:prstGeom prst="rect">
            <a:avLst/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4" name="Concept 3 badge"/>
          <p:cNvSpPr/>
          <p:nvPr/>
        </p:nvSpPr>
        <p:spPr>
          <a:xfrm>
            <a:off x="4919472" y="3383280"/>
            <a:ext cx="566928" cy="56692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15" name="Concept 3 icon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61204" y="3525012"/>
            <a:ext cx="283464" cy="283464"/>
          </a:xfrm>
          <a:prstGeom prst="rect">
            <a:avLst/>
          </a:prstGeom>
        </p:spPr>
      </p:pic>
      <p:sp>
        <p:nvSpPr>
          <p:cNvPr id="16" name="Concept 3 text"/>
          <p:cNvSpPr txBox="1"/>
          <p:nvPr/>
        </p:nvSpPr>
        <p:spPr>
          <a:xfrm>
            <a:off x="5650992" y="3063240"/>
            <a:ext cx="2359152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Традиция</a:t>
            </a:r>
            <a:endParaRPr lang="en-US" sz="1600" dirty="0"/>
          </a:p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Обряды и обычаи, передаваемые из поколения в поколение.</a:t>
            </a:r>
            <a:endParaRPr lang="en-US" sz="1600" dirty="0"/>
          </a:p>
        </p:txBody>
      </p:sp>
      <p:sp>
        <p:nvSpPr>
          <p:cNvPr id="17" name="Concept 4"/>
          <p:cNvSpPr/>
          <p:nvPr/>
        </p:nvSpPr>
        <p:spPr>
          <a:xfrm>
            <a:off x="8247888" y="2971800"/>
            <a:ext cx="3383280" cy="1417320"/>
          </a:xfrm>
          <a:prstGeom prst="rect">
            <a:avLst/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8" name="Concept 4 badge"/>
          <p:cNvSpPr/>
          <p:nvPr/>
        </p:nvSpPr>
        <p:spPr>
          <a:xfrm>
            <a:off x="8412480" y="3383280"/>
            <a:ext cx="566928" cy="56692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19" name="Concept 4 icon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554212" y="3525012"/>
            <a:ext cx="283464" cy="283464"/>
          </a:xfrm>
          <a:prstGeom prst="rect">
            <a:avLst/>
          </a:prstGeom>
        </p:spPr>
      </p:pic>
      <p:sp>
        <p:nvSpPr>
          <p:cNvPr id="20" name="Concept 4 text"/>
          <p:cNvSpPr txBox="1"/>
          <p:nvPr/>
        </p:nvSpPr>
        <p:spPr>
          <a:xfrm>
            <a:off x="9144000" y="3063240"/>
            <a:ext cx="2359152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Ментальность</a:t>
            </a:r>
            <a:endParaRPr lang="en-US" sz="1600" dirty="0"/>
          </a:p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Менталитет — глубинные установки мышления, сложившиеся веками.</a:t>
            </a:r>
            <a:endParaRPr lang="en-US" sz="1600" dirty="0"/>
          </a:p>
        </p:txBody>
      </p:sp>
      <p:sp>
        <p:nvSpPr>
          <p:cNvPr id="21" name="Concept 5"/>
          <p:cNvSpPr/>
          <p:nvPr/>
        </p:nvSpPr>
        <p:spPr>
          <a:xfrm>
            <a:off x="4754880" y="4572000"/>
            <a:ext cx="3383280" cy="1417320"/>
          </a:xfrm>
          <a:prstGeom prst="rect">
            <a:avLst/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2" name="Concept 5 badge"/>
          <p:cNvSpPr/>
          <p:nvPr/>
        </p:nvSpPr>
        <p:spPr>
          <a:xfrm>
            <a:off x="4919472" y="4983480"/>
            <a:ext cx="566928" cy="56692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23" name="Concept 5 icon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061204" y="5125212"/>
            <a:ext cx="283464" cy="283464"/>
          </a:xfrm>
          <a:prstGeom prst="rect">
            <a:avLst/>
          </a:prstGeom>
        </p:spPr>
      </p:pic>
      <p:sp>
        <p:nvSpPr>
          <p:cNvPr id="24" name="Concept 5 text"/>
          <p:cNvSpPr txBox="1"/>
          <p:nvPr/>
        </p:nvSpPr>
        <p:spPr>
          <a:xfrm>
            <a:off x="5650992" y="4663440"/>
            <a:ext cx="2359152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Идеология</a:t>
            </a:r>
            <a:endParaRPr lang="en-US" sz="1600" dirty="0"/>
          </a:p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Система идей для политики; религия опирается на веру в священное.</a:t>
            </a:r>
            <a:endParaRPr lang="en-US" sz="1600" dirty="0"/>
          </a:p>
        </p:txBody>
      </p:sp>
      <p:sp>
        <p:nvSpPr>
          <p:cNvPr id="25" name="Concept 6"/>
          <p:cNvSpPr/>
          <p:nvPr/>
        </p:nvSpPr>
        <p:spPr>
          <a:xfrm>
            <a:off x="8247888" y="4572000"/>
            <a:ext cx="3383280" cy="1417320"/>
          </a:xfrm>
          <a:prstGeom prst="rect">
            <a:avLst/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6" name="Concept 6 badge"/>
          <p:cNvSpPr/>
          <p:nvPr/>
        </p:nvSpPr>
        <p:spPr>
          <a:xfrm>
            <a:off x="8412480" y="4983480"/>
            <a:ext cx="566928" cy="56692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27" name="Concept 6 icon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554212" y="5125212"/>
            <a:ext cx="283464" cy="283464"/>
          </a:xfrm>
          <a:prstGeom prst="rect">
            <a:avLst/>
          </a:prstGeom>
        </p:spPr>
      </p:pic>
      <p:sp>
        <p:nvSpPr>
          <p:cNvPr id="28" name="Concept 6 text"/>
          <p:cNvSpPr txBox="1"/>
          <p:nvPr/>
        </p:nvSpPr>
        <p:spPr>
          <a:xfrm>
            <a:off x="9144000" y="4663440"/>
            <a:ext cx="2359152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Идентичность</a:t>
            </a:r>
            <a:endParaRPr lang="en-US" sz="1600" dirty="0"/>
          </a:p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Чувство принадлежности к народу, вере и стране.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373368"/>
            <a:ext cx="667512" cy="29260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5B6B61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Closing background" descr="Храм Христа Спасителя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Closing overlay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chemeClr val="tx2">
              <a:alpha val="88000"/>
            </a:schemeClr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4" name="Logo card"/>
          <p:cNvSpPr/>
          <p:nvPr/>
        </p:nvSpPr>
        <p:spPr>
          <a:xfrm>
            <a:off x="822960" y="2240280"/>
            <a:ext cx="2468880" cy="2468880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</p:spPr>
      </p:sp>
      <p:pic>
        <p:nvPicPr>
          <p:cNvPr id="5" name="University logo" descr="Эмблема ВГУЮ (РПА Минюста России)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2331720"/>
            <a:ext cx="2286000" cy="2286000"/>
          </a:xfrm>
          <a:prstGeom prst="rect">
            <a:avLst/>
          </a:prstGeom>
        </p:spPr>
      </p:pic>
      <p:sp>
        <p:nvSpPr>
          <p:cNvPr id="6" name="Text 1"/>
          <p:cNvSpPr/>
          <p:nvPr>
            <p:ph idx="101" type="title" hasCustomPrompt="1"/>
          </p:nvPr>
        </p:nvSpPr>
        <p:spPr>
          <a:xfrm>
            <a:off x="3566160" y="2331720"/>
            <a:ext cx="8229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800" b="1" dirty="0">
                <a:solidFill>
                  <a:schemeClr val="bg1"/>
                </a:solidFill>
              </a:rPr>
              <a:t>Спасибо за внимание!</a:t>
            </a:r>
            <a:endParaRPr lang="en-US" sz="4800" dirty="0"/>
          </a:p>
        </p:txBody>
      </p:sp>
      <p:sp>
        <p:nvSpPr>
          <p:cNvPr id="7" name="Closing subtitle"/>
          <p:cNvSpPr txBox="1"/>
          <p:nvPr/>
        </p:nvSpPr>
        <p:spPr>
          <a:xfrm>
            <a:off x="3657600" y="3840480"/>
            <a:ext cx="7955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chemeClr val="accent2"/>
                </a:solidFill>
              </a:rPr>
              <a:t>Религиозное мировоззрение — Основы российской государственности</a:t>
            </a:r>
            <a:endParaRPr lang="en-US" sz="1800" dirty="0"/>
          </a:p>
        </p:txBody>
      </p:sp>
      <p:sp>
        <p:nvSpPr>
          <p:cNvPr id="8" name="Closing university"/>
          <p:cNvSpPr txBox="1"/>
          <p:nvPr/>
        </p:nvSpPr>
        <p:spPr>
          <a:xfrm>
            <a:off x="3657600" y="4297680"/>
            <a:ext cx="7955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bg1"/>
                </a:solidFill>
              </a:rPr>
              <a:t>Всероссийский государственный университет юстиции (РПА Минюста России)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RPA Justice">
  <a:themeElements>
    <a:clrScheme name="RPA Justice">
      <a:dk1>
        <a:srgbClr val="1A2620"/>
      </a:dk1>
      <a:lt1>
        <a:srgbClr val="FFFFFF"/>
      </a:lt1>
      <a:dk2>
        <a:srgbClr val="0E4D32"/>
      </a:dk2>
      <a:lt2>
        <a:srgbClr val="F1F5F0"/>
      </a:lt2>
      <a:accent1>
        <a:srgbClr val="1F8A4C"/>
      </a:accent1>
      <a:accent2>
        <a:srgbClr val="C8A24A"/>
      </a:accent2>
      <a:accent3>
        <a:srgbClr val="8C2F39"/>
      </a:accent3>
      <a:accent4>
        <a:srgbClr val="2F6B8A"/>
      </a:accent4>
      <a:accent5>
        <a:srgbClr val="7A5C2E"/>
      </a:accent5>
      <a:accent6>
        <a:srgbClr val="5B6B61"/>
      </a:accent6>
      <a:hlink>
        <a:srgbClr val="1F8A4C"/>
      </a:hlink>
      <a:folHlink>
        <a:srgbClr val="5B6B61"/>
      </a:folHlink>
    </a:clrScheme>
    <a:fontScheme name="RPA Justice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Религиозное мировоззрение</dc:title>
  <dc:subject>Основы российской государственности. Семинарское занятие 9</dc:subject>
  <dc:creator>ВГУЮ (РПА Минюста России)</dc:creator>
  <cp:lastModifiedBy>ВГУЮ (РПА Минюста России)</cp:lastModifiedBy>
  <cp:revision>1</cp:revision>
  <dcterms:created xsi:type="dcterms:W3CDTF">2026-10-23T07:11:56Z</dcterms:created>
  <dcterms:modified xsi:type="dcterms:W3CDTF">2026-10-23T07:11:56Z</dcterms:modified>
</cp:coreProperties>
</file>